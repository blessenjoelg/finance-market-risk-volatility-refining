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grandir Grand" charset="1" panose="00000507000000000000"/>
      <p:regular r:id="rId17"/>
    </p:embeddedFont>
    <p:embeddedFont>
      <p:font typeface="Poppins" charset="1" panose="00000500000000000000"/>
      <p:regular r:id="rId18"/>
    </p:embeddedFont>
    <p:embeddedFont>
      <p:font typeface="Poppins Italics" charset="1" panose="00000500000000000000"/>
      <p:regular r:id="rId19"/>
    </p:embeddedFont>
    <p:embeddedFont>
      <p:font typeface="Poppins Bold" charset="1" panose="000008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763181" y="-2174277"/>
            <a:ext cx="6405953" cy="6405953"/>
          </a:xfrm>
          <a:custGeom>
            <a:avLst/>
            <a:gdLst/>
            <a:ahLst/>
            <a:cxnLst/>
            <a:rect r="r" b="b" t="t" l="l"/>
            <a:pathLst>
              <a:path h="6405953" w="6405953">
                <a:moveTo>
                  <a:pt x="0" y="0"/>
                </a:moveTo>
                <a:lnTo>
                  <a:pt x="6405954" y="0"/>
                </a:lnTo>
                <a:lnTo>
                  <a:pt x="6405954" y="6405954"/>
                </a:lnTo>
                <a:lnTo>
                  <a:pt x="0" y="64059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49062" y="7265084"/>
            <a:ext cx="8846281" cy="1631733"/>
            <a:chOff x="0" y="0"/>
            <a:chExt cx="2338305" cy="431310"/>
          </a:xfrm>
        </p:grpSpPr>
        <p:sp>
          <p:nvSpPr>
            <p:cNvPr name="Freeform 4" id="4"/>
            <p:cNvSpPr/>
            <p:nvPr/>
          </p:nvSpPr>
          <p:spPr>
            <a:xfrm flipH="false" flipV="false" rot="0">
              <a:off x="0" y="0"/>
              <a:ext cx="2338305" cy="431310"/>
            </a:xfrm>
            <a:custGeom>
              <a:avLst/>
              <a:gdLst/>
              <a:ahLst/>
              <a:cxnLst/>
              <a:rect r="r" b="b" t="t" l="l"/>
              <a:pathLst>
                <a:path h="431310" w="2338305">
                  <a:moveTo>
                    <a:pt x="71763" y="0"/>
                  </a:moveTo>
                  <a:lnTo>
                    <a:pt x="2266542" y="0"/>
                  </a:lnTo>
                  <a:cubicBezTo>
                    <a:pt x="2306176" y="0"/>
                    <a:pt x="2338305" y="32129"/>
                    <a:pt x="2338305" y="71763"/>
                  </a:cubicBezTo>
                  <a:lnTo>
                    <a:pt x="2338305" y="359547"/>
                  </a:lnTo>
                  <a:cubicBezTo>
                    <a:pt x="2338305" y="378580"/>
                    <a:pt x="2330744" y="396833"/>
                    <a:pt x="2317286" y="410291"/>
                  </a:cubicBezTo>
                  <a:cubicBezTo>
                    <a:pt x="2303828" y="423749"/>
                    <a:pt x="2285575" y="431310"/>
                    <a:pt x="2266542" y="431310"/>
                  </a:cubicBezTo>
                  <a:lnTo>
                    <a:pt x="71763" y="431310"/>
                  </a:lnTo>
                  <a:cubicBezTo>
                    <a:pt x="52730" y="431310"/>
                    <a:pt x="34477" y="423749"/>
                    <a:pt x="21019" y="410291"/>
                  </a:cubicBezTo>
                  <a:cubicBezTo>
                    <a:pt x="7561" y="396833"/>
                    <a:pt x="0" y="378580"/>
                    <a:pt x="0" y="359547"/>
                  </a:cubicBezTo>
                  <a:lnTo>
                    <a:pt x="0" y="71763"/>
                  </a:lnTo>
                  <a:cubicBezTo>
                    <a:pt x="0" y="52730"/>
                    <a:pt x="7561" y="34477"/>
                    <a:pt x="21019" y="21019"/>
                  </a:cubicBezTo>
                  <a:cubicBezTo>
                    <a:pt x="34477" y="7561"/>
                    <a:pt x="52730" y="0"/>
                    <a:pt x="71763" y="0"/>
                  </a:cubicBezTo>
                  <a:close/>
                </a:path>
              </a:pathLst>
            </a:custGeom>
            <a:solidFill>
              <a:srgbClr val="FFFFFF">
                <a:alpha val="4706"/>
              </a:srgbClr>
            </a:solidFill>
          </p:spPr>
        </p:sp>
        <p:sp>
          <p:nvSpPr>
            <p:cNvPr name="TextBox 5" id="5"/>
            <p:cNvSpPr txBox="true"/>
            <p:nvPr/>
          </p:nvSpPr>
          <p:spPr>
            <a:xfrm>
              <a:off x="0" y="-57150"/>
              <a:ext cx="2338305" cy="488460"/>
            </a:xfrm>
            <a:prstGeom prst="rect">
              <a:avLst/>
            </a:prstGeom>
          </p:spPr>
          <p:txBody>
            <a:bodyPr anchor="ctr" rtlCol="false" tIns="52378" lIns="52378" bIns="52378" rIns="52378"/>
            <a:lstStyle/>
            <a:p>
              <a:pPr algn="ctr">
                <a:lnSpc>
                  <a:spcPts val="2659"/>
                </a:lnSpc>
                <a:spcBef>
                  <a:spcPct val="0"/>
                </a:spcBef>
              </a:pPr>
            </a:p>
          </p:txBody>
        </p:sp>
      </p:grpSp>
      <p:sp>
        <p:nvSpPr>
          <p:cNvPr name="Freeform 6" id="6"/>
          <p:cNvSpPr/>
          <p:nvPr/>
        </p:nvSpPr>
        <p:spPr>
          <a:xfrm flipH="false" flipV="false" rot="0">
            <a:off x="9454582" y="1390183"/>
            <a:ext cx="5390070" cy="5390070"/>
          </a:xfrm>
          <a:custGeom>
            <a:avLst/>
            <a:gdLst/>
            <a:ahLst/>
            <a:cxnLst/>
            <a:rect r="r" b="b" t="t" l="l"/>
            <a:pathLst>
              <a:path h="5390070" w="5390070">
                <a:moveTo>
                  <a:pt x="0" y="0"/>
                </a:moveTo>
                <a:lnTo>
                  <a:pt x="5390070" y="0"/>
                </a:lnTo>
                <a:lnTo>
                  <a:pt x="5390070" y="5390070"/>
                </a:lnTo>
                <a:lnTo>
                  <a:pt x="0" y="53900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289614" y="5230915"/>
            <a:ext cx="1549338" cy="1549338"/>
          </a:xfrm>
          <a:custGeom>
            <a:avLst/>
            <a:gdLst/>
            <a:ahLst/>
            <a:cxnLst/>
            <a:rect r="r" b="b" t="t" l="l"/>
            <a:pathLst>
              <a:path h="1549338" w="1549338">
                <a:moveTo>
                  <a:pt x="0" y="0"/>
                </a:moveTo>
                <a:lnTo>
                  <a:pt x="1549338" y="0"/>
                </a:lnTo>
                <a:lnTo>
                  <a:pt x="1549338" y="1549338"/>
                </a:lnTo>
                <a:lnTo>
                  <a:pt x="0" y="1549338"/>
                </a:lnTo>
                <a:lnTo>
                  <a:pt x="0" y="0"/>
                </a:lnTo>
                <a:close/>
              </a:path>
            </a:pathLst>
          </a:custGeom>
          <a:blipFill>
            <a:blip r:embed="rId4">
              <a:alphaModFix amt="98000"/>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4903270" y="1824363"/>
            <a:ext cx="3645748" cy="9386"/>
          </a:xfrm>
          <a:prstGeom prst="line">
            <a:avLst/>
          </a:prstGeom>
          <a:ln cap="flat" w="19050">
            <a:solidFill>
              <a:srgbClr val="4C4C4C"/>
            </a:solidFill>
            <a:prstDash val="solid"/>
            <a:headEnd type="none" len="sm" w="sm"/>
            <a:tailEnd type="none" len="sm" w="sm"/>
          </a:ln>
        </p:spPr>
      </p:sp>
      <p:sp>
        <p:nvSpPr>
          <p:cNvPr name="TextBox 9" id="9"/>
          <p:cNvSpPr txBox="true"/>
          <p:nvPr/>
        </p:nvSpPr>
        <p:spPr>
          <a:xfrm rot="0">
            <a:off x="1449062" y="2955193"/>
            <a:ext cx="9369097" cy="3622963"/>
          </a:xfrm>
          <a:prstGeom prst="rect">
            <a:avLst/>
          </a:prstGeom>
        </p:spPr>
        <p:txBody>
          <a:bodyPr anchor="t" rtlCol="false" tIns="0" lIns="0" bIns="0" rIns="0">
            <a:spAutoFit/>
          </a:bodyPr>
          <a:lstStyle/>
          <a:p>
            <a:pPr algn="l">
              <a:lnSpc>
                <a:spcPts val="12563"/>
              </a:lnSpc>
            </a:pPr>
            <a:r>
              <a:rPr lang="en-US" sz="12563">
                <a:solidFill>
                  <a:srgbClr val="FFFFFF"/>
                </a:solidFill>
                <a:latin typeface="Agrandir Grand"/>
                <a:ea typeface="Agrandir Grand"/>
                <a:cs typeface="Agrandir Grand"/>
                <a:sym typeface="Agrandir Grand"/>
              </a:rPr>
              <a:t>ALPHA</a:t>
            </a:r>
          </a:p>
          <a:p>
            <a:pPr algn="l">
              <a:lnSpc>
                <a:spcPts val="12563"/>
              </a:lnSpc>
            </a:pPr>
            <a:r>
              <a:rPr lang="en-US" sz="12563">
                <a:solidFill>
                  <a:srgbClr val="FFFFFF"/>
                </a:solidFill>
                <a:latin typeface="Agrandir Grand"/>
                <a:ea typeface="Agrandir Grand"/>
                <a:cs typeface="Agrandir Grand"/>
                <a:sym typeface="Agrandir Grand"/>
              </a:rPr>
              <a:t>PULSE</a:t>
            </a:r>
          </a:p>
        </p:txBody>
      </p:sp>
      <p:sp>
        <p:nvSpPr>
          <p:cNvPr name="TextBox 10" id="10"/>
          <p:cNvSpPr txBox="true"/>
          <p:nvPr/>
        </p:nvSpPr>
        <p:spPr>
          <a:xfrm rot="0">
            <a:off x="2470090" y="7855986"/>
            <a:ext cx="7327041" cy="488030"/>
          </a:xfrm>
          <a:prstGeom prst="rect">
            <a:avLst/>
          </a:prstGeom>
        </p:spPr>
        <p:txBody>
          <a:bodyPr anchor="t" rtlCol="false" tIns="0" lIns="0" bIns="0" rIns="0">
            <a:spAutoFit/>
          </a:bodyPr>
          <a:lstStyle/>
          <a:p>
            <a:pPr algn="l">
              <a:lnSpc>
                <a:spcPts val="3473"/>
              </a:lnSpc>
            </a:pPr>
            <a:r>
              <a:rPr lang="en-US" sz="3473">
                <a:solidFill>
                  <a:srgbClr val="A2A2A2"/>
                </a:solidFill>
                <a:latin typeface="Poppins"/>
                <a:ea typeface="Poppins"/>
                <a:cs typeface="Poppins"/>
                <a:sym typeface="Poppins"/>
              </a:rPr>
              <a:t>Portfolio Risk Simulation</a:t>
            </a:r>
          </a:p>
        </p:txBody>
      </p:sp>
      <p:sp>
        <p:nvSpPr>
          <p:cNvPr name="TextBox 11" id="11"/>
          <p:cNvSpPr txBox="true"/>
          <p:nvPr/>
        </p:nvSpPr>
        <p:spPr>
          <a:xfrm rot="0">
            <a:off x="1449048" y="1637833"/>
            <a:ext cx="3221575" cy="410882"/>
          </a:xfrm>
          <a:prstGeom prst="rect">
            <a:avLst/>
          </a:prstGeom>
        </p:spPr>
        <p:txBody>
          <a:bodyPr anchor="t" rtlCol="false" tIns="0" lIns="0" bIns="0" rIns="0">
            <a:spAutoFit/>
          </a:bodyPr>
          <a:lstStyle/>
          <a:p>
            <a:pPr algn="l">
              <a:lnSpc>
                <a:spcPts val="2823"/>
              </a:lnSpc>
            </a:pPr>
            <a:r>
              <a:rPr lang="en-US" sz="2823">
                <a:solidFill>
                  <a:srgbClr val="A2A2A2"/>
                </a:solidFill>
                <a:latin typeface="Poppins"/>
                <a:ea typeface="Poppins"/>
                <a:cs typeface="Poppins"/>
                <a:sym typeface="Poppins"/>
              </a:rPr>
              <a:t>April 9, 26</a:t>
            </a:r>
          </a:p>
        </p:txBody>
      </p:sp>
      <p:sp>
        <p:nvSpPr>
          <p:cNvPr name="TextBox 12" id="12"/>
          <p:cNvSpPr txBox="true"/>
          <p:nvPr/>
        </p:nvSpPr>
        <p:spPr>
          <a:xfrm rot="0">
            <a:off x="10979836" y="7878719"/>
            <a:ext cx="5859117" cy="442562"/>
          </a:xfrm>
          <a:prstGeom prst="rect">
            <a:avLst/>
          </a:prstGeom>
        </p:spPr>
        <p:txBody>
          <a:bodyPr anchor="t" rtlCol="false" tIns="0" lIns="0" bIns="0" rIns="0">
            <a:spAutoFit/>
          </a:bodyPr>
          <a:lstStyle/>
          <a:p>
            <a:pPr algn="l">
              <a:lnSpc>
                <a:spcPts val="3183"/>
              </a:lnSpc>
            </a:pPr>
            <a:r>
              <a:rPr lang="en-US" sz="3183" i="true">
                <a:solidFill>
                  <a:srgbClr val="A2A2A2"/>
                </a:solidFill>
                <a:latin typeface="Poppins Italics"/>
                <a:ea typeface="Poppins Italics"/>
                <a:cs typeface="Poppins Italics"/>
                <a:sym typeface="Poppins Italics"/>
              </a:rPr>
              <a:t>Presented By : Group 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895070" y="4599905"/>
            <a:ext cx="7493210" cy="7493210"/>
          </a:xfrm>
          <a:custGeom>
            <a:avLst/>
            <a:gdLst/>
            <a:ahLst/>
            <a:cxnLst/>
            <a:rect r="r" b="b" t="t" l="l"/>
            <a:pathLst>
              <a:path h="7493210" w="7493210">
                <a:moveTo>
                  <a:pt x="0" y="0"/>
                </a:moveTo>
                <a:lnTo>
                  <a:pt x="7493209" y="0"/>
                </a:lnTo>
                <a:lnTo>
                  <a:pt x="7493209" y="7493210"/>
                </a:lnTo>
                <a:lnTo>
                  <a:pt x="0" y="74932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95837" y="2294612"/>
            <a:ext cx="1811491" cy="1811491"/>
          </a:xfrm>
          <a:custGeom>
            <a:avLst/>
            <a:gdLst/>
            <a:ahLst/>
            <a:cxnLst/>
            <a:rect r="r" b="b" t="t" l="l"/>
            <a:pathLst>
              <a:path h="1811491" w="1811491">
                <a:moveTo>
                  <a:pt x="0" y="0"/>
                </a:moveTo>
                <a:lnTo>
                  <a:pt x="1811492" y="0"/>
                </a:lnTo>
                <a:lnTo>
                  <a:pt x="1811492" y="1811492"/>
                </a:lnTo>
                <a:lnTo>
                  <a:pt x="0" y="1811492"/>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6938276" y="6472970"/>
            <a:ext cx="9632841" cy="0"/>
          </a:xfrm>
          <a:prstGeom prst="line">
            <a:avLst/>
          </a:prstGeom>
          <a:ln cap="flat" w="19050">
            <a:solidFill>
              <a:srgbClr val="4C4C4C"/>
            </a:solidFill>
            <a:prstDash val="solid"/>
            <a:headEnd type="none" len="sm" w="sm"/>
            <a:tailEnd type="none" len="sm" w="sm"/>
          </a:ln>
        </p:spPr>
      </p:sp>
      <p:sp>
        <p:nvSpPr>
          <p:cNvPr name="TextBox 5" id="5"/>
          <p:cNvSpPr txBox="true"/>
          <p:nvPr/>
        </p:nvSpPr>
        <p:spPr>
          <a:xfrm rot="0">
            <a:off x="6577879" y="3701970"/>
            <a:ext cx="9993237" cy="1332725"/>
          </a:xfrm>
          <a:prstGeom prst="rect">
            <a:avLst/>
          </a:prstGeom>
        </p:spPr>
        <p:txBody>
          <a:bodyPr anchor="t" rtlCol="false" tIns="0" lIns="0" bIns="0" rIns="0">
            <a:spAutoFit/>
          </a:bodyPr>
          <a:lstStyle/>
          <a:p>
            <a:pPr algn="r">
              <a:lnSpc>
                <a:spcPts val="8219"/>
              </a:lnSpc>
            </a:pPr>
            <a:r>
              <a:rPr lang="en-US" sz="8219">
                <a:solidFill>
                  <a:srgbClr val="FFFFFF"/>
                </a:solidFill>
                <a:latin typeface="Agrandir Grand"/>
                <a:ea typeface="Agrandir Grand"/>
                <a:cs typeface="Agrandir Grand"/>
                <a:sym typeface="Agrandir Grand"/>
              </a:rPr>
              <a:t> OBJECTIVE</a:t>
            </a:r>
          </a:p>
        </p:txBody>
      </p:sp>
      <p:sp>
        <p:nvSpPr>
          <p:cNvPr name="TextBox 6" id="6"/>
          <p:cNvSpPr txBox="true"/>
          <p:nvPr/>
        </p:nvSpPr>
        <p:spPr>
          <a:xfrm rot="0">
            <a:off x="6272115" y="7312983"/>
            <a:ext cx="11633627" cy="1697212"/>
          </a:xfrm>
          <a:prstGeom prst="rect">
            <a:avLst/>
          </a:prstGeom>
        </p:spPr>
        <p:txBody>
          <a:bodyPr anchor="t" rtlCol="false" tIns="0" lIns="0" bIns="0" rIns="0">
            <a:spAutoFit/>
          </a:bodyPr>
          <a:lstStyle/>
          <a:p>
            <a:pPr algn="just">
              <a:lnSpc>
                <a:spcPts val="1944"/>
              </a:lnSpc>
            </a:pPr>
            <a:r>
              <a:rPr lang="en-US" sz="1944">
                <a:solidFill>
                  <a:srgbClr val="A2A2A2"/>
                </a:solidFill>
                <a:latin typeface="Poppins"/>
                <a:ea typeface="Poppins"/>
                <a:cs typeface="Poppins"/>
                <a:sym typeface="Poppins"/>
              </a:rPr>
              <a:t>The objective of the AlphaPulse project is to analyze financial data and evaluate portfolio performance using key metrics such as alpha and returns. It focuses on cleaning and transforming raw datasets into accurate and reliable inputs for analysis. The project also aims to apply statistical and financial models to assess investment efficiency and risk. Finally, it seeks to present clear insights through an interactive dashboard, enabling better understanding and informed decision-making.</a:t>
            </a:r>
          </a:p>
          <a:p>
            <a:pPr algn="just">
              <a:lnSpc>
                <a:spcPts val="1944"/>
              </a:lnSpc>
            </a:pPr>
          </a:p>
        </p:txBody>
      </p:sp>
      <p:grpSp>
        <p:nvGrpSpPr>
          <p:cNvPr name="Group 7" id="7"/>
          <p:cNvGrpSpPr/>
          <p:nvPr/>
        </p:nvGrpSpPr>
        <p:grpSpPr>
          <a:xfrm rot="0">
            <a:off x="11297615" y="1367347"/>
            <a:ext cx="5467337" cy="988957"/>
            <a:chOff x="0" y="0"/>
            <a:chExt cx="1457479" cy="263635"/>
          </a:xfrm>
        </p:grpSpPr>
        <p:sp>
          <p:nvSpPr>
            <p:cNvPr name="Freeform 8" id="8"/>
            <p:cNvSpPr/>
            <p:nvPr/>
          </p:nvSpPr>
          <p:spPr>
            <a:xfrm flipH="false" flipV="false" rot="0">
              <a:off x="0" y="0"/>
              <a:ext cx="1457479" cy="263635"/>
            </a:xfrm>
            <a:custGeom>
              <a:avLst/>
              <a:gdLst/>
              <a:ahLst/>
              <a:cxnLst/>
              <a:rect r="r" b="b" t="t" l="l"/>
              <a:pathLst>
                <a:path h="263635" w="1457479">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solidFill>
              <a:srgbClr val="FFFFFF">
                <a:alpha val="4706"/>
              </a:srgbClr>
            </a:solidFill>
          </p:spPr>
        </p:sp>
        <p:sp>
          <p:nvSpPr>
            <p:cNvPr name="TextBox 9" id="9"/>
            <p:cNvSpPr txBox="true"/>
            <p:nvPr/>
          </p:nvSpPr>
          <p:spPr>
            <a:xfrm>
              <a:off x="0" y="-57150"/>
              <a:ext cx="1457479" cy="320785"/>
            </a:xfrm>
            <a:prstGeom prst="rect">
              <a:avLst/>
            </a:prstGeom>
          </p:spPr>
          <p:txBody>
            <a:bodyPr anchor="ctr" rtlCol="false" tIns="52257" lIns="52257" bIns="52257" rIns="52257"/>
            <a:lstStyle/>
            <a:p>
              <a:pPr algn="ctr">
                <a:lnSpc>
                  <a:spcPts val="2660"/>
                </a:lnSpc>
                <a:spcBef>
                  <a:spcPct val="0"/>
                </a:spcBef>
              </a:pPr>
            </a:p>
          </p:txBody>
        </p:sp>
      </p:grpSp>
      <p:sp>
        <p:nvSpPr>
          <p:cNvPr name="Freeform 10" id="10"/>
          <p:cNvSpPr/>
          <p:nvPr/>
        </p:nvSpPr>
        <p:spPr>
          <a:xfrm flipH="false" flipV="false" rot="0">
            <a:off x="1523048" y="1712986"/>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1754696" y="1693936"/>
            <a:ext cx="4553174" cy="354892"/>
          </a:xfrm>
          <a:prstGeom prst="rect">
            <a:avLst/>
          </a:prstGeom>
        </p:spPr>
        <p:txBody>
          <a:bodyPr anchor="t" rtlCol="false" tIns="0" lIns="0" bIns="0" rIns="0">
            <a:spAutoFit/>
          </a:bodyPr>
          <a:lstStyle/>
          <a:p>
            <a:pPr algn="l">
              <a:lnSpc>
                <a:spcPts val="2474"/>
              </a:lnSpc>
            </a:pPr>
            <a:r>
              <a:rPr lang="en-US" sz="2474" i="true">
                <a:solidFill>
                  <a:srgbClr val="A2A2A2"/>
                </a:solidFill>
                <a:latin typeface="Poppins Italics"/>
                <a:ea typeface="Poppins Italics"/>
                <a:cs typeface="Poppins Italics"/>
                <a:sym typeface="Poppins Italics"/>
              </a:rPr>
              <a:t>Presented By : Group 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64915" y="8452439"/>
            <a:ext cx="5020845" cy="5020845"/>
          </a:xfrm>
          <a:custGeom>
            <a:avLst/>
            <a:gdLst/>
            <a:ahLst/>
            <a:cxnLst/>
            <a:rect r="r" b="b" t="t" l="l"/>
            <a:pathLst>
              <a:path h="5020845" w="5020845">
                <a:moveTo>
                  <a:pt x="0" y="0"/>
                </a:moveTo>
                <a:lnTo>
                  <a:pt x="5020846" y="0"/>
                </a:lnTo>
                <a:lnTo>
                  <a:pt x="5020846" y="5020845"/>
                </a:lnTo>
                <a:lnTo>
                  <a:pt x="0" y="5020845"/>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84027" y="4498255"/>
            <a:ext cx="2774206" cy="2774206"/>
          </a:xfrm>
          <a:custGeom>
            <a:avLst/>
            <a:gdLst/>
            <a:ahLst/>
            <a:cxnLst/>
            <a:rect r="r" b="b" t="t" l="l"/>
            <a:pathLst>
              <a:path h="2774206" w="2774206">
                <a:moveTo>
                  <a:pt x="0" y="0"/>
                </a:moveTo>
                <a:lnTo>
                  <a:pt x="2774205" y="0"/>
                </a:lnTo>
                <a:lnTo>
                  <a:pt x="2774205" y="2774206"/>
                </a:lnTo>
                <a:lnTo>
                  <a:pt x="0" y="2774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8458784" y="3364721"/>
            <a:ext cx="8306167" cy="1727736"/>
            <a:chOff x="0" y="0"/>
            <a:chExt cx="2214252" cy="460578"/>
          </a:xfrm>
        </p:grpSpPr>
        <p:sp>
          <p:nvSpPr>
            <p:cNvPr name="Freeform 5" id="5"/>
            <p:cNvSpPr/>
            <p:nvPr/>
          </p:nvSpPr>
          <p:spPr>
            <a:xfrm flipH="false" flipV="false" rot="0">
              <a:off x="0" y="0"/>
              <a:ext cx="2214252" cy="460578"/>
            </a:xfrm>
            <a:custGeom>
              <a:avLst/>
              <a:gdLst/>
              <a:ahLst/>
              <a:cxnLst/>
              <a:rect r="r" b="b" t="t" l="l"/>
              <a:pathLst>
                <a:path h="460578" w="2214252">
                  <a:moveTo>
                    <a:pt x="76430" y="0"/>
                  </a:moveTo>
                  <a:lnTo>
                    <a:pt x="2137822" y="0"/>
                  </a:lnTo>
                  <a:cubicBezTo>
                    <a:pt x="2158093" y="0"/>
                    <a:pt x="2177533" y="8052"/>
                    <a:pt x="2191866" y="22386"/>
                  </a:cubicBezTo>
                  <a:cubicBezTo>
                    <a:pt x="2206200" y="36719"/>
                    <a:pt x="2214252" y="56159"/>
                    <a:pt x="2214252" y="76430"/>
                  </a:cubicBezTo>
                  <a:lnTo>
                    <a:pt x="2214252" y="384149"/>
                  </a:lnTo>
                  <a:cubicBezTo>
                    <a:pt x="2214252" y="404419"/>
                    <a:pt x="2206200" y="423859"/>
                    <a:pt x="2191866" y="438193"/>
                  </a:cubicBezTo>
                  <a:cubicBezTo>
                    <a:pt x="2177533" y="452526"/>
                    <a:pt x="2158093" y="460578"/>
                    <a:pt x="2137822" y="460578"/>
                  </a:cubicBezTo>
                  <a:lnTo>
                    <a:pt x="76430" y="460578"/>
                  </a:lnTo>
                  <a:cubicBezTo>
                    <a:pt x="56159" y="460578"/>
                    <a:pt x="36719" y="452526"/>
                    <a:pt x="22386" y="438193"/>
                  </a:cubicBezTo>
                  <a:cubicBezTo>
                    <a:pt x="8052" y="423859"/>
                    <a:pt x="0" y="404419"/>
                    <a:pt x="0" y="38414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sp>
        <p:sp>
          <p:nvSpPr>
            <p:cNvPr name="TextBox 6" id="6"/>
            <p:cNvSpPr txBox="true"/>
            <p:nvPr/>
          </p:nvSpPr>
          <p:spPr>
            <a:xfrm>
              <a:off x="0" y="-57150"/>
              <a:ext cx="2214252" cy="517728"/>
            </a:xfrm>
            <a:prstGeom prst="rect">
              <a:avLst/>
            </a:prstGeom>
          </p:spPr>
          <p:txBody>
            <a:bodyPr anchor="ctr" rtlCol="false" tIns="52257" lIns="52257" bIns="52257" rIns="52257"/>
            <a:lstStyle/>
            <a:p>
              <a:pPr algn="ctr">
                <a:lnSpc>
                  <a:spcPts val="2660"/>
                </a:lnSpc>
                <a:spcBef>
                  <a:spcPct val="0"/>
                </a:spcBef>
              </a:pPr>
            </a:p>
          </p:txBody>
        </p:sp>
      </p:grpSp>
      <p:sp>
        <p:nvSpPr>
          <p:cNvPr name="Freeform 7" id="7"/>
          <p:cNvSpPr/>
          <p:nvPr/>
        </p:nvSpPr>
        <p:spPr>
          <a:xfrm flipH="false" flipV="false" rot="0">
            <a:off x="7427703" y="6152842"/>
            <a:ext cx="1306722" cy="1306722"/>
          </a:xfrm>
          <a:custGeom>
            <a:avLst/>
            <a:gdLst/>
            <a:ahLst/>
            <a:cxnLst/>
            <a:rect r="r" b="b" t="t" l="l"/>
            <a:pathLst>
              <a:path h="1306722" w="1306722">
                <a:moveTo>
                  <a:pt x="0" y="0"/>
                </a:moveTo>
                <a:lnTo>
                  <a:pt x="1306722" y="0"/>
                </a:lnTo>
                <a:lnTo>
                  <a:pt x="1306722" y="1306722"/>
                </a:lnTo>
                <a:lnTo>
                  <a:pt x="0" y="1306722"/>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8458784" y="5288974"/>
            <a:ext cx="8306167" cy="1727736"/>
            <a:chOff x="0" y="0"/>
            <a:chExt cx="2214252" cy="460578"/>
          </a:xfrm>
        </p:grpSpPr>
        <p:sp>
          <p:nvSpPr>
            <p:cNvPr name="Freeform 9" id="9"/>
            <p:cNvSpPr/>
            <p:nvPr/>
          </p:nvSpPr>
          <p:spPr>
            <a:xfrm flipH="false" flipV="false" rot="0">
              <a:off x="0" y="0"/>
              <a:ext cx="2214252" cy="460578"/>
            </a:xfrm>
            <a:custGeom>
              <a:avLst/>
              <a:gdLst/>
              <a:ahLst/>
              <a:cxnLst/>
              <a:rect r="r" b="b" t="t" l="l"/>
              <a:pathLst>
                <a:path h="460578" w="2214252">
                  <a:moveTo>
                    <a:pt x="76430" y="0"/>
                  </a:moveTo>
                  <a:lnTo>
                    <a:pt x="2137822" y="0"/>
                  </a:lnTo>
                  <a:cubicBezTo>
                    <a:pt x="2158093" y="0"/>
                    <a:pt x="2177533" y="8052"/>
                    <a:pt x="2191866" y="22386"/>
                  </a:cubicBezTo>
                  <a:cubicBezTo>
                    <a:pt x="2206200" y="36719"/>
                    <a:pt x="2214252" y="56159"/>
                    <a:pt x="2214252" y="76430"/>
                  </a:cubicBezTo>
                  <a:lnTo>
                    <a:pt x="2214252" y="384149"/>
                  </a:lnTo>
                  <a:cubicBezTo>
                    <a:pt x="2214252" y="404419"/>
                    <a:pt x="2206200" y="423859"/>
                    <a:pt x="2191866" y="438193"/>
                  </a:cubicBezTo>
                  <a:cubicBezTo>
                    <a:pt x="2177533" y="452526"/>
                    <a:pt x="2158093" y="460578"/>
                    <a:pt x="2137822" y="460578"/>
                  </a:cubicBezTo>
                  <a:lnTo>
                    <a:pt x="76430" y="460578"/>
                  </a:lnTo>
                  <a:cubicBezTo>
                    <a:pt x="56159" y="460578"/>
                    <a:pt x="36719" y="452526"/>
                    <a:pt x="22386" y="438193"/>
                  </a:cubicBezTo>
                  <a:cubicBezTo>
                    <a:pt x="8052" y="423859"/>
                    <a:pt x="0" y="404419"/>
                    <a:pt x="0" y="38414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sp>
        <p:sp>
          <p:nvSpPr>
            <p:cNvPr name="TextBox 10" id="10"/>
            <p:cNvSpPr txBox="true"/>
            <p:nvPr/>
          </p:nvSpPr>
          <p:spPr>
            <a:xfrm>
              <a:off x="0" y="-57150"/>
              <a:ext cx="2214252" cy="517728"/>
            </a:xfrm>
            <a:prstGeom prst="rect">
              <a:avLst/>
            </a:prstGeom>
          </p:spPr>
          <p:txBody>
            <a:bodyPr anchor="ctr" rtlCol="false" tIns="52257" lIns="52257" bIns="52257" rIns="52257"/>
            <a:lstStyle/>
            <a:p>
              <a:pPr algn="ctr">
                <a:lnSpc>
                  <a:spcPts val="2660"/>
                </a:lnSpc>
                <a:spcBef>
                  <a:spcPct val="0"/>
                </a:spcBef>
              </a:pPr>
            </a:p>
          </p:txBody>
        </p:sp>
      </p:grpSp>
      <p:grpSp>
        <p:nvGrpSpPr>
          <p:cNvPr name="Group 11" id="11"/>
          <p:cNvGrpSpPr/>
          <p:nvPr/>
        </p:nvGrpSpPr>
        <p:grpSpPr>
          <a:xfrm rot="0">
            <a:off x="8458784" y="7216734"/>
            <a:ext cx="8306167" cy="1727736"/>
            <a:chOff x="0" y="0"/>
            <a:chExt cx="2214252" cy="460578"/>
          </a:xfrm>
        </p:grpSpPr>
        <p:sp>
          <p:nvSpPr>
            <p:cNvPr name="Freeform 12" id="12"/>
            <p:cNvSpPr/>
            <p:nvPr/>
          </p:nvSpPr>
          <p:spPr>
            <a:xfrm flipH="false" flipV="false" rot="0">
              <a:off x="0" y="0"/>
              <a:ext cx="2214252" cy="460578"/>
            </a:xfrm>
            <a:custGeom>
              <a:avLst/>
              <a:gdLst/>
              <a:ahLst/>
              <a:cxnLst/>
              <a:rect r="r" b="b" t="t" l="l"/>
              <a:pathLst>
                <a:path h="460578" w="2214252">
                  <a:moveTo>
                    <a:pt x="76430" y="0"/>
                  </a:moveTo>
                  <a:lnTo>
                    <a:pt x="2137822" y="0"/>
                  </a:lnTo>
                  <a:cubicBezTo>
                    <a:pt x="2158093" y="0"/>
                    <a:pt x="2177533" y="8052"/>
                    <a:pt x="2191866" y="22386"/>
                  </a:cubicBezTo>
                  <a:cubicBezTo>
                    <a:pt x="2206200" y="36719"/>
                    <a:pt x="2214252" y="56159"/>
                    <a:pt x="2214252" y="76430"/>
                  </a:cubicBezTo>
                  <a:lnTo>
                    <a:pt x="2214252" y="384149"/>
                  </a:lnTo>
                  <a:cubicBezTo>
                    <a:pt x="2214252" y="404419"/>
                    <a:pt x="2206200" y="423859"/>
                    <a:pt x="2191866" y="438193"/>
                  </a:cubicBezTo>
                  <a:cubicBezTo>
                    <a:pt x="2177533" y="452526"/>
                    <a:pt x="2158093" y="460578"/>
                    <a:pt x="2137822" y="460578"/>
                  </a:cubicBezTo>
                  <a:lnTo>
                    <a:pt x="76430" y="460578"/>
                  </a:lnTo>
                  <a:cubicBezTo>
                    <a:pt x="56159" y="460578"/>
                    <a:pt x="36719" y="452526"/>
                    <a:pt x="22386" y="438193"/>
                  </a:cubicBezTo>
                  <a:cubicBezTo>
                    <a:pt x="8052" y="423859"/>
                    <a:pt x="0" y="404419"/>
                    <a:pt x="0" y="38414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sp>
        <p:sp>
          <p:nvSpPr>
            <p:cNvPr name="TextBox 13" id="13"/>
            <p:cNvSpPr txBox="true"/>
            <p:nvPr/>
          </p:nvSpPr>
          <p:spPr>
            <a:xfrm>
              <a:off x="0" y="-57150"/>
              <a:ext cx="2214252" cy="517728"/>
            </a:xfrm>
            <a:prstGeom prst="rect">
              <a:avLst/>
            </a:prstGeom>
          </p:spPr>
          <p:txBody>
            <a:bodyPr anchor="ctr" rtlCol="false" tIns="52257" lIns="52257" bIns="52257" rIns="52257"/>
            <a:lstStyle/>
            <a:p>
              <a:pPr algn="ctr">
                <a:lnSpc>
                  <a:spcPts val="2660"/>
                </a:lnSpc>
                <a:spcBef>
                  <a:spcPct val="0"/>
                </a:spcBef>
              </a:pPr>
            </a:p>
          </p:txBody>
        </p:sp>
      </p:grpSp>
      <p:grpSp>
        <p:nvGrpSpPr>
          <p:cNvPr name="Group 14" id="14"/>
          <p:cNvGrpSpPr/>
          <p:nvPr/>
        </p:nvGrpSpPr>
        <p:grpSpPr>
          <a:xfrm rot="0">
            <a:off x="9144000" y="1897288"/>
            <a:ext cx="788030" cy="78803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74681">
                    <a:alpha val="100000"/>
                  </a:srgbClr>
                </a:gs>
                <a:gs pos="100000">
                  <a:srgbClr val="1F1344">
                    <a:alpha val="100000"/>
                  </a:srgbClr>
                </a:gs>
              </a:gsLst>
              <a:lin ang="2700000"/>
            </a:gradFill>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2660"/>
                </a:lnSpc>
              </a:pPr>
            </a:p>
          </p:txBody>
        </p:sp>
      </p:grpSp>
      <p:grpSp>
        <p:nvGrpSpPr>
          <p:cNvPr name="Group 17" id="17"/>
          <p:cNvGrpSpPr/>
          <p:nvPr/>
        </p:nvGrpSpPr>
        <p:grpSpPr>
          <a:xfrm rot="0">
            <a:off x="9144000" y="5760542"/>
            <a:ext cx="788030" cy="78803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74681">
                    <a:alpha val="100000"/>
                  </a:srgbClr>
                </a:gs>
                <a:gs pos="100000">
                  <a:srgbClr val="1F1344">
                    <a:alpha val="100000"/>
                  </a:srgbClr>
                </a:gs>
              </a:gsLst>
              <a:lin ang="2700000"/>
            </a:gradFill>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2660"/>
                </a:lnSpc>
              </a:pPr>
            </a:p>
          </p:txBody>
        </p:sp>
      </p:grpSp>
      <p:grpSp>
        <p:nvGrpSpPr>
          <p:cNvPr name="Group 20" id="20"/>
          <p:cNvGrpSpPr/>
          <p:nvPr/>
        </p:nvGrpSpPr>
        <p:grpSpPr>
          <a:xfrm rot="0">
            <a:off x="9144000" y="7664409"/>
            <a:ext cx="788030" cy="78803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74681">
                    <a:alpha val="100000"/>
                  </a:srgbClr>
                </a:gs>
                <a:gs pos="100000">
                  <a:srgbClr val="1F1344">
                    <a:alpha val="100000"/>
                  </a:srgbClr>
                </a:gs>
              </a:gsLst>
              <a:lin ang="2700000"/>
            </a:gra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2660"/>
                </a:lnSpc>
              </a:pPr>
            </a:p>
          </p:txBody>
        </p:sp>
      </p:grpSp>
      <p:sp>
        <p:nvSpPr>
          <p:cNvPr name="TextBox 23" id="23"/>
          <p:cNvSpPr txBox="true"/>
          <p:nvPr/>
        </p:nvSpPr>
        <p:spPr>
          <a:xfrm rot="0">
            <a:off x="1523048" y="3278920"/>
            <a:ext cx="6300907" cy="2370950"/>
          </a:xfrm>
          <a:prstGeom prst="rect">
            <a:avLst/>
          </a:prstGeom>
        </p:spPr>
        <p:txBody>
          <a:bodyPr anchor="t" rtlCol="false" tIns="0" lIns="0" bIns="0" rIns="0">
            <a:spAutoFit/>
          </a:bodyPr>
          <a:lstStyle/>
          <a:p>
            <a:pPr algn="l">
              <a:lnSpc>
                <a:spcPts val="8219"/>
              </a:lnSpc>
            </a:pPr>
            <a:r>
              <a:rPr lang="en-US" sz="8219">
                <a:solidFill>
                  <a:srgbClr val="FFFFFF"/>
                </a:solidFill>
                <a:latin typeface="Agrandir Grand"/>
                <a:ea typeface="Agrandir Grand"/>
                <a:cs typeface="Agrandir Grand"/>
                <a:sym typeface="Agrandir Grand"/>
              </a:rPr>
              <a:t>PROJECT PHASES</a:t>
            </a:r>
          </a:p>
        </p:txBody>
      </p:sp>
      <p:sp>
        <p:nvSpPr>
          <p:cNvPr name="TextBox 24" id="24"/>
          <p:cNvSpPr txBox="true"/>
          <p:nvPr/>
        </p:nvSpPr>
        <p:spPr>
          <a:xfrm rot="0">
            <a:off x="1523048" y="6192657"/>
            <a:ext cx="5304579" cy="835676"/>
          </a:xfrm>
          <a:prstGeom prst="rect">
            <a:avLst/>
          </a:prstGeom>
        </p:spPr>
        <p:txBody>
          <a:bodyPr anchor="t" rtlCol="false" tIns="0" lIns="0" bIns="0" rIns="0">
            <a:spAutoFit/>
          </a:bodyPr>
          <a:lstStyle/>
          <a:p>
            <a:pPr algn="l">
              <a:lnSpc>
                <a:spcPts val="3149"/>
              </a:lnSpc>
            </a:pPr>
            <a:r>
              <a:rPr lang="en-US" sz="3149">
                <a:solidFill>
                  <a:srgbClr val="A2A2A2"/>
                </a:solidFill>
                <a:latin typeface="Poppins"/>
                <a:ea typeface="Poppins"/>
                <a:cs typeface="Poppins"/>
                <a:sym typeface="Poppins"/>
              </a:rPr>
              <a:t>Our project is divided into </a:t>
            </a:r>
          </a:p>
          <a:p>
            <a:pPr algn="l">
              <a:lnSpc>
                <a:spcPts val="3149"/>
              </a:lnSpc>
            </a:pPr>
            <a:r>
              <a:rPr lang="en-US" sz="3149">
                <a:solidFill>
                  <a:srgbClr val="A2A2A2"/>
                </a:solidFill>
                <a:latin typeface="Poppins"/>
                <a:ea typeface="Poppins"/>
                <a:cs typeface="Poppins"/>
                <a:sym typeface="Poppins"/>
              </a:rPr>
              <a:t>4 parts</a:t>
            </a:r>
          </a:p>
        </p:txBody>
      </p:sp>
      <p:sp>
        <p:nvSpPr>
          <p:cNvPr name="TextBox 25" id="25"/>
          <p:cNvSpPr txBox="true"/>
          <p:nvPr/>
        </p:nvSpPr>
        <p:spPr>
          <a:xfrm rot="0">
            <a:off x="10151207" y="4078578"/>
            <a:ext cx="6080958" cy="321797"/>
          </a:xfrm>
          <a:prstGeom prst="rect">
            <a:avLst/>
          </a:prstGeom>
        </p:spPr>
        <p:txBody>
          <a:bodyPr anchor="t" rtlCol="false" tIns="0" lIns="0" bIns="0" rIns="0">
            <a:spAutoFit/>
          </a:bodyPr>
          <a:lstStyle/>
          <a:p>
            <a:pPr algn="l">
              <a:lnSpc>
                <a:spcPts val="2276"/>
              </a:lnSpc>
            </a:pPr>
            <a:r>
              <a:rPr lang="en-US" sz="2276">
                <a:solidFill>
                  <a:srgbClr val="A2A2A2"/>
                </a:solidFill>
                <a:latin typeface="Poppins"/>
                <a:ea typeface="Poppins"/>
                <a:cs typeface="Poppins"/>
                <a:sym typeface="Poppins"/>
              </a:rPr>
              <a:t>Quantitative Analysis</a:t>
            </a:r>
          </a:p>
        </p:txBody>
      </p:sp>
      <p:sp>
        <p:nvSpPr>
          <p:cNvPr name="TextBox 26" id="26"/>
          <p:cNvSpPr txBox="true"/>
          <p:nvPr/>
        </p:nvSpPr>
        <p:spPr>
          <a:xfrm rot="0">
            <a:off x="10151207" y="5975711"/>
            <a:ext cx="6080958" cy="321797"/>
          </a:xfrm>
          <a:prstGeom prst="rect">
            <a:avLst/>
          </a:prstGeom>
        </p:spPr>
        <p:txBody>
          <a:bodyPr anchor="t" rtlCol="false" tIns="0" lIns="0" bIns="0" rIns="0">
            <a:spAutoFit/>
          </a:bodyPr>
          <a:lstStyle/>
          <a:p>
            <a:pPr algn="l">
              <a:lnSpc>
                <a:spcPts val="2276"/>
              </a:lnSpc>
            </a:pPr>
            <a:r>
              <a:rPr lang="en-US" sz="2276">
                <a:solidFill>
                  <a:srgbClr val="A2A2A2"/>
                </a:solidFill>
                <a:latin typeface="Poppins"/>
                <a:ea typeface="Poppins"/>
                <a:cs typeface="Poppins"/>
                <a:sym typeface="Poppins"/>
              </a:rPr>
              <a:t>Risk Modeling</a:t>
            </a:r>
          </a:p>
        </p:txBody>
      </p:sp>
      <p:sp>
        <p:nvSpPr>
          <p:cNvPr name="TextBox 27" id="27"/>
          <p:cNvSpPr txBox="true"/>
          <p:nvPr/>
        </p:nvSpPr>
        <p:spPr>
          <a:xfrm rot="0">
            <a:off x="10151207" y="7879578"/>
            <a:ext cx="6080958" cy="321797"/>
          </a:xfrm>
          <a:prstGeom prst="rect">
            <a:avLst/>
          </a:prstGeom>
        </p:spPr>
        <p:txBody>
          <a:bodyPr anchor="t" rtlCol="false" tIns="0" lIns="0" bIns="0" rIns="0">
            <a:spAutoFit/>
          </a:bodyPr>
          <a:lstStyle/>
          <a:p>
            <a:pPr algn="l">
              <a:lnSpc>
                <a:spcPts val="2276"/>
              </a:lnSpc>
            </a:pPr>
            <a:r>
              <a:rPr lang="en-US" sz="2276">
                <a:solidFill>
                  <a:srgbClr val="A2A2A2"/>
                </a:solidFill>
                <a:latin typeface="Poppins"/>
                <a:ea typeface="Poppins"/>
                <a:cs typeface="Poppins"/>
                <a:sym typeface="Poppins"/>
              </a:rPr>
              <a:t>Deployment</a:t>
            </a:r>
          </a:p>
        </p:txBody>
      </p:sp>
      <p:sp>
        <p:nvSpPr>
          <p:cNvPr name="TextBox 28" id="28"/>
          <p:cNvSpPr txBox="true"/>
          <p:nvPr/>
        </p:nvSpPr>
        <p:spPr>
          <a:xfrm rot="0">
            <a:off x="9332065" y="2173423"/>
            <a:ext cx="411900" cy="324523"/>
          </a:xfrm>
          <a:prstGeom prst="rect">
            <a:avLst/>
          </a:prstGeom>
        </p:spPr>
        <p:txBody>
          <a:bodyPr anchor="t" rtlCol="false" tIns="0" lIns="0" bIns="0" rIns="0">
            <a:spAutoFit/>
          </a:bodyPr>
          <a:lstStyle/>
          <a:p>
            <a:pPr algn="ctr">
              <a:lnSpc>
                <a:spcPts val="2276"/>
              </a:lnSpc>
            </a:pPr>
            <a:r>
              <a:rPr lang="en-US" sz="2276" b="true">
                <a:solidFill>
                  <a:srgbClr val="FFFFFF"/>
                </a:solidFill>
                <a:latin typeface="Poppins Bold"/>
                <a:ea typeface="Poppins Bold"/>
                <a:cs typeface="Poppins Bold"/>
                <a:sym typeface="Poppins Bold"/>
              </a:rPr>
              <a:t>01</a:t>
            </a:r>
          </a:p>
        </p:txBody>
      </p:sp>
      <p:sp>
        <p:nvSpPr>
          <p:cNvPr name="TextBox 29" id="29"/>
          <p:cNvSpPr txBox="true"/>
          <p:nvPr/>
        </p:nvSpPr>
        <p:spPr>
          <a:xfrm rot="0">
            <a:off x="9332065" y="6000105"/>
            <a:ext cx="411900" cy="324523"/>
          </a:xfrm>
          <a:prstGeom prst="rect">
            <a:avLst/>
          </a:prstGeom>
        </p:spPr>
        <p:txBody>
          <a:bodyPr anchor="t" rtlCol="false" tIns="0" lIns="0" bIns="0" rIns="0">
            <a:spAutoFit/>
          </a:bodyPr>
          <a:lstStyle/>
          <a:p>
            <a:pPr algn="ctr">
              <a:lnSpc>
                <a:spcPts val="2276"/>
              </a:lnSpc>
            </a:pPr>
            <a:r>
              <a:rPr lang="en-US" sz="2276" b="true">
                <a:solidFill>
                  <a:srgbClr val="FFFFFF"/>
                </a:solidFill>
                <a:latin typeface="Poppins Bold"/>
                <a:ea typeface="Poppins Bold"/>
                <a:cs typeface="Poppins Bold"/>
                <a:sym typeface="Poppins Bold"/>
              </a:rPr>
              <a:t>03</a:t>
            </a:r>
          </a:p>
        </p:txBody>
      </p:sp>
      <p:sp>
        <p:nvSpPr>
          <p:cNvPr name="TextBox 30" id="30"/>
          <p:cNvSpPr txBox="true"/>
          <p:nvPr/>
        </p:nvSpPr>
        <p:spPr>
          <a:xfrm rot="0">
            <a:off x="9332065" y="7902534"/>
            <a:ext cx="411900" cy="324523"/>
          </a:xfrm>
          <a:prstGeom prst="rect">
            <a:avLst/>
          </a:prstGeom>
        </p:spPr>
        <p:txBody>
          <a:bodyPr anchor="t" rtlCol="false" tIns="0" lIns="0" bIns="0" rIns="0">
            <a:spAutoFit/>
          </a:bodyPr>
          <a:lstStyle/>
          <a:p>
            <a:pPr algn="ctr">
              <a:lnSpc>
                <a:spcPts val="2276"/>
              </a:lnSpc>
            </a:pPr>
            <a:r>
              <a:rPr lang="en-US" sz="2276" b="true">
                <a:solidFill>
                  <a:srgbClr val="FFFFFF"/>
                </a:solidFill>
                <a:latin typeface="Poppins Bold"/>
                <a:ea typeface="Poppins Bold"/>
                <a:cs typeface="Poppins Bold"/>
                <a:sym typeface="Poppins Bold"/>
              </a:rPr>
              <a:t>04</a:t>
            </a:r>
          </a:p>
        </p:txBody>
      </p:sp>
      <p:sp>
        <p:nvSpPr>
          <p:cNvPr name="Freeform 31" id="31"/>
          <p:cNvSpPr/>
          <p:nvPr/>
        </p:nvSpPr>
        <p:spPr>
          <a:xfrm flipH="false" flipV="false" rot="0">
            <a:off x="1523048" y="1669119"/>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2" id="32"/>
          <p:cNvGrpSpPr/>
          <p:nvPr/>
        </p:nvGrpSpPr>
        <p:grpSpPr>
          <a:xfrm rot="0">
            <a:off x="8458784" y="1427435"/>
            <a:ext cx="8306167" cy="1727736"/>
            <a:chOff x="0" y="0"/>
            <a:chExt cx="2214252" cy="460578"/>
          </a:xfrm>
        </p:grpSpPr>
        <p:sp>
          <p:nvSpPr>
            <p:cNvPr name="Freeform 33" id="33"/>
            <p:cNvSpPr/>
            <p:nvPr/>
          </p:nvSpPr>
          <p:spPr>
            <a:xfrm flipH="false" flipV="false" rot="0">
              <a:off x="0" y="0"/>
              <a:ext cx="2214252" cy="460578"/>
            </a:xfrm>
            <a:custGeom>
              <a:avLst/>
              <a:gdLst/>
              <a:ahLst/>
              <a:cxnLst/>
              <a:rect r="r" b="b" t="t" l="l"/>
              <a:pathLst>
                <a:path h="460578" w="2214252">
                  <a:moveTo>
                    <a:pt x="76430" y="0"/>
                  </a:moveTo>
                  <a:lnTo>
                    <a:pt x="2137822" y="0"/>
                  </a:lnTo>
                  <a:cubicBezTo>
                    <a:pt x="2158093" y="0"/>
                    <a:pt x="2177533" y="8052"/>
                    <a:pt x="2191866" y="22386"/>
                  </a:cubicBezTo>
                  <a:cubicBezTo>
                    <a:pt x="2206200" y="36719"/>
                    <a:pt x="2214252" y="56159"/>
                    <a:pt x="2214252" y="76430"/>
                  </a:cubicBezTo>
                  <a:lnTo>
                    <a:pt x="2214252" y="384149"/>
                  </a:lnTo>
                  <a:cubicBezTo>
                    <a:pt x="2214252" y="404419"/>
                    <a:pt x="2206200" y="423859"/>
                    <a:pt x="2191866" y="438193"/>
                  </a:cubicBezTo>
                  <a:cubicBezTo>
                    <a:pt x="2177533" y="452526"/>
                    <a:pt x="2158093" y="460578"/>
                    <a:pt x="2137822" y="460578"/>
                  </a:cubicBezTo>
                  <a:lnTo>
                    <a:pt x="76430" y="460578"/>
                  </a:lnTo>
                  <a:cubicBezTo>
                    <a:pt x="56159" y="460578"/>
                    <a:pt x="36719" y="452526"/>
                    <a:pt x="22386" y="438193"/>
                  </a:cubicBezTo>
                  <a:cubicBezTo>
                    <a:pt x="8052" y="423859"/>
                    <a:pt x="0" y="404419"/>
                    <a:pt x="0" y="38414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sp>
        <p:sp>
          <p:nvSpPr>
            <p:cNvPr name="TextBox 34" id="34"/>
            <p:cNvSpPr txBox="true"/>
            <p:nvPr/>
          </p:nvSpPr>
          <p:spPr>
            <a:xfrm>
              <a:off x="0" y="-57150"/>
              <a:ext cx="2214252" cy="517728"/>
            </a:xfrm>
            <a:prstGeom prst="rect">
              <a:avLst/>
            </a:prstGeom>
          </p:spPr>
          <p:txBody>
            <a:bodyPr anchor="ctr" rtlCol="false" tIns="52257" lIns="52257" bIns="52257" rIns="52257"/>
            <a:lstStyle/>
            <a:p>
              <a:pPr algn="ctr">
                <a:lnSpc>
                  <a:spcPts val="2660"/>
                </a:lnSpc>
                <a:spcBef>
                  <a:spcPct val="0"/>
                </a:spcBef>
              </a:pPr>
            </a:p>
          </p:txBody>
        </p:sp>
      </p:grpSp>
      <p:grpSp>
        <p:nvGrpSpPr>
          <p:cNvPr name="Group 35" id="35"/>
          <p:cNvGrpSpPr/>
          <p:nvPr/>
        </p:nvGrpSpPr>
        <p:grpSpPr>
          <a:xfrm rot="0">
            <a:off x="9144000" y="3834574"/>
            <a:ext cx="788030" cy="788030"/>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74681">
                    <a:alpha val="100000"/>
                  </a:srgbClr>
                </a:gs>
                <a:gs pos="100000">
                  <a:srgbClr val="1F1344">
                    <a:alpha val="100000"/>
                  </a:srgbClr>
                </a:gs>
              </a:gsLst>
              <a:lin ang="2700000"/>
            </a:gradFill>
          </p:spPr>
        </p:sp>
        <p:sp>
          <p:nvSpPr>
            <p:cNvPr name="TextBox 37" id="37"/>
            <p:cNvSpPr txBox="true"/>
            <p:nvPr/>
          </p:nvSpPr>
          <p:spPr>
            <a:xfrm>
              <a:off x="76200" y="19050"/>
              <a:ext cx="660400" cy="717550"/>
            </a:xfrm>
            <a:prstGeom prst="rect">
              <a:avLst/>
            </a:prstGeom>
          </p:spPr>
          <p:txBody>
            <a:bodyPr anchor="ctr" rtlCol="false" tIns="50800" lIns="50800" bIns="50800" rIns="50800"/>
            <a:lstStyle/>
            <a:p>
              <a:pPr algn="ctr">
                <a:lnSpc>
                  <a:spcPts val="2660"/>
                </a:lnSpc>
              </a:pPr>
            </a:p>
          </p:txBody>
        </p:sp>
      </p:grpSp>
      <p:sp>
        <p:nvSpPr>
          <p:cNvPr name="TextBox 38" id="38"/>
          <p:cNvSpPr txBox="true"/>
          <p:nvPr/>
        </p:nvSpPr>
        <p:spPr>
          <a:xfrm rot="0">
            <a:off x="9332065" y="4075852"/>
            <a:ext cx="411900" cy="324523"/>
          </a:xfrm>
          <a:prstGeom prst="rect">
            <a:avLst/>
          </a:prstGeom>
        </p:spPr>
        <p:txBody>
          <a:bodyPr anchor="t" rtlCol="false" tIns="0" lIns="0" bIns="0" rIns="0">
            <a:spAutoFit/>
          </a:bodyPr>
          <a:lstStyle/>
          <a:p>
            <a:pPr algn="ctr">
              <a:lnSpc>
                <a:spcPts val="2276"/>
              </a:lnSpc>
            </a:pPr>
            <a:r>
              <a:rPr lang="en-US" sz="2276" b="true">
                <a:solidFill>
                  <a:srgbClr val="FFFFFF"/>
                </a:solidFill>
                <a:latin typeface="Poppins Bold"/>
                <a:ea typeface="Poppins Bold"/>
                <a:cs typeface="Poppins Bold"/>
                <a:sym typeface="Poppins Bold"/>
              </a:rPr>
              <a:t>02</a:t>
            </a:r>
          </a:p>
        </p:txBody>
      </p:sp>
      <p:sp>
        <p:nvSpPr>
          <p:cNvPr name="TextBox 39" id="39"/>
          <p:cNvSpPr txBox="true"/>
          <p:nvPr/>
        </p:nvSpPr>
        <p:spPr>
          <a:xfrm rot="0">
            <a:off x="10151207" y="2139929"/>
            <a:ext cx="6080958" cy="321797"/>
          </a:xfrm>
          <a:prstGeom prst="rect">
            <a:avLst/>
          </a:prstGeom>
        </p:spPr>
        <p:txBody>
          <a:bodyPr anchor="t" rtlCol="false" tIns="0" lIns="0" bIns="0" rIns="0">
            <a:spAutoFit/>
          </a:bodyPr>
          <a:lstStyle/>
          <a:p>
            <a:pPr algn="l">
              <a:lnSpc>
                <a:spcPts val="2276"/>
              </a:lnSpc>
            </a:pPr>
            <a:r>
              <a:rPr lang="en-US" sz="2276">
                <a:solidFill>
                  <a:srgbClr val="A2A2A2"/>
                </a:solidFill>
                <a:latin typeface="Poppins"/>
                <a:ea typeface="Poppins"/>
                <a:cs typeface="Poppins"/>
                <a:sym typeface="Poppins"/>
              </a:rPr>
              <a:t>Data Acquisition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008431" y="4907747"/>
            <a:ext cx="1250869" cy="1250869"/>
          </a:xfrm>
          <a:custGeom>
            <a:avLst/>
            <a:gdLst/>
            <a:ahLst/>
            <a:cxnLst/>
            <a:rect r="r" b="b" t="t" l="l"/>
            <a:pathLst>
              <a:path h="1250869" w="1250869">
                <a:moveTo>
                  <a:pt x="0" y="0"/>
                </a:moveTo>
                <a:lnTo>
                  <a:pt x="1250869" y="0"/>
                </a:lnTo>
                <a:lnTo>
                  <a:pt x="1250869" y="1250869"/>
                </a:lnTo>
                <a:lnTo>
                  <a:pt x="0" y="1250869"/>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7749" y="8053422"/>
            <a:ext cx="3461594" cy="3461594"/>
          </a:xfrm>
          <a:custGeom>
            <a:avLst/>
            <a:gdLst/>
            <a:ahLst/>
            <a:cxnLst/>
            <a:rect r="r" b="b" t="t" l="l"/>
            <a:pathLst>
              <a:path h="3461594" w="3461594">
                <a:moveTo>
                  <a:pt x="0" y="0"/>
                </a:moveTo>
                <a:lnTo>
                  <a:pt x="3461594" y="0"/>
                </a:lnTo>
                <a:lnTo>
                  <a:pt x="3461594" y="3461594"/>
                </a:lnTo>
                <a:lnTo>
                  <a:pt x="0" y="3461594"/>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23048" y="2486086"/>
            <a:ext cx="15241903" cy="6476484"/>
            <a:chOff x="0" y="0"/>
            <a:chExt cx="4063175" cy="1726496"/>
          </a:xfrm>
        </p:grpSpPr>
        <p:sp>
          <p:nvSpPr>
            <p:cNvPr name="Freeform 5" id="5"/>
            <p:cNvSpPr/>
            <p:nvPr/>
          </p:nvSpPr>
          <p:spPr>
            <a:xfrm flipH="false" flipV="false" rot="0">
              <a:off x="0" y="0"/>
              <a:ext cx="4063176" cy="1726497"/>
            </a:xfrm>
            <a:custGeom>
              <a:avLst/>
              <a:gdLst/>
              <a:ahLst/>
              <a:cxnLst/>
              <a:rect r="r" b="b" t="t" l="l"/>
              <a:pathLst>
                <a:path h="1726497" w="4063176">
                  <a:moveTo>
                    <a:pt x="41651" y="0"/>
                  </a:moveTo>
                  <a:lnTo>
                    <a:pt x="4021525" y="0"/>
                  </a:lnTo>
                  <a:cubicBezTo>
                    <a:pt x="4044528" y="0"/>
                    <a:pt x="4063176" y="18648"/>
                    <a:pt x="4063176" y="41651"/>
                  </a:cubicBezTo>
                  <a:lnTo>
                    <a:pt x="4063176" y="1684846"/>
                  </a:lnTo>
                  <a:cubicBezTo>
                    <a:pt x="4063176" y="1695892"/>
                    <a:pt x="4058788" y="1706486"/>
                    <a:pt x="4050976" y="1714297"/>
                  </a:cubicBezTo>
                  <a:cubicBezTo>
                    <a:pt x="4043165" y="1722108"/>
                    <a:pt x="4032571" y="1726497"/>
                    <a:pt x="4021525" y="1726497"/>
                  </a:cubicBezTo>
                  <a:lnTo>
                    <a:pt x="41651" y="1726497"/>
                  </a:lnTo>
                  <a:cubicBezTo>
                    <a:pt x="30604" y="1726497"/>
                    <a:pt x="20010" y="1722108"/>
                    <a:pt x="12199" y="1714297"/>
                  </a:cubicBezTo>
                  <a:cubicBezTo>
                    <a:pt x="4388" y="1706486"/>
                    <a:pt x="0" y="1695892"/>
                    <a:pt x="0" y="1684846"/>
                  </a:cubicBezTo>
                  <a:lnTo>
                    <a:pt x="0" y="41651"/>
                  </a:lnTo>
                  <a:cubicBezTo>
                    <a:pt x="0" y="30604"/>
                    <a:pt x="4388" y="20010"/>
                    <a:pt x="12199" y="12199"/>
                  </a:cubicBezTo>
                  <a:cubicBezTo>
                    <a:pt x="20010" y="4388"/>
                    <a:pt x="30604" y="0"/>
                    <a:pt x="41651" y="0"/>
                  </a:cubicBezTo>
                  <a:close/>
                </a:path>
              </a:pathLst>
            </a:custGeom>
            <a:solidFill>
              <a:srgbClr val="FFFFFF">
                <a:alpha val="4706"/>
              </a:srgbClr>
            </a:solidFill>
          </p:spPr>
        </p:sp>
        <p:sp>
          <p:nvSpPr>
            <p:cNvPr name="TextBox 6" id="6"/>
            <p:cNvSpPr txBox="true"/>
            <p:nvPr/>
          </p:nvSpPr>
          <p:spPr>
            <a:xfrm>
              <a:off x="0" y="-57150"/>
              <a:ext cx="4063175" cy="1783646"/>
            </a:xfrm>
            <a:prstGeom prst="rect">
              <a:avLst/>
            </a:prstGeom>
          </p:spPr>
          <p:txBody>
            <a:bodyPr anchor="ctr" rtlCol="false" tIns="52257" lIns="52257" bIns="52257" rIns="52257"/>
            <a:lstStyle/>
            <a:p>
              <a:pPr algn="ctr">
                <a:lnSpc>
                  <a:spcPts val="2660"/>
                </a:lnSpc>
                <a:spcBef>
                  <a:spcPct val="0"/>
                </a:spcBef>
              </a:pPr>
            </a:p>
          </p:txBody>
        </p:sp>
      </p:grpSp>
      <p:sp>
        <p:nvSpPr>
          <p:cNvPr name="TextBox 7" id="7"/>
          <p:cNvSpPr txBox="true"/>
          <p:nvPr/>
        </p:nvSpPr>
        <p:spPr>
          <a:xfrm rot="0">
            <a:off x="3253845" y="1153361"/>
            <a:ext cx="15241903" cy="1332725"/>
          </a:xfrm>
          <a:prstGeom prst="rect">
            <a:avLst/>
          </a:prstGeom>
        </p:spPr>
        <p:txBody>
          <a:bodyPr anchor="t" rtlCol="false" tIns="0" lIns="0" bIns="0" rIns="0">
            <a:spAutoFit/>
          </a:bodyPr>
          <a:lstStyle/>
          <a:p>
            <a:pPr algn="l">
              <a:lnSpc>
                <a:spcPts val="8219"/>
              </a:lnSpc>
            </a:pPr>
            <a:r>
              <a:rPr lang="en-US" sz="8219">
                <a:solidFill>
                  <a:srgbClr val="FFFFFF"/>
                </a:solidFill>
                <a:latin typeface="Agrandir Grand"/>
                <a:ea typeface="Agrandir Grand"/>
                <a:cs typeface="Agrandir Grand"/>
                <a:sym typeface="Agrandir Grand"/>
              </a:rPr>
              <a:t>DATA ACQUISITION</a:t>
            </a:r>
          </a:p>
        </p:txBody>
      </p:sp>
      <p:sp>
        <p:nvSpPr>
          <p:cNvPr name="TextBox 8" id="8"/>
          <p:cNvSpPr txBox="true"/>
          <p:nvPr/>
        </p:nvSpPr>
        <p:spPr>
          <a:xfrm rot="0">
            <a:off x="2608566" y="2769320"/>
            <a:ext cx="13070869" cy="5368918"/>
          </a:xfrm>
          <a:prstGeom prst="rect">
            <a:avLst/>
          </a:prstGeom>
        </p:spPr>
        <p:txBody>
          <a:bodyPr anchor="t" rtlCol="false" tIns="0" lIns="0" bIns="0" rIns="0">
            <a:spAutoFit/>
          </a:bodyPr>
          <a:lstStyle/>
          <a:p>
            <a:pPr algn="just">
              <a:lnSpc>
                <a:spcPts val="3249"/>
              </a:lnSpc>
            </a:pPr>
            <a:r>
              <a:rPr lang="en-US" sz="3249">
                <a:solidFill>
                  <a:srgbClr val="A2A2A2"/>
                </a:solidFill>
                <a:latin typeface="Poppins"/>
                <a:ea typeface="Poppins"/>
                <a:cs typeface="Poppins"/>
                <a:sym typeface="Poppins"/>
              </a:rPr>
              <a:t>The first phase of the AlphaPulse project focuses on collecting relevant and reliable financial data from various sources such as stock market APIs, financial websites, and publicly available datasets. This includes historical price data, market indices, and other key financial indicators required for analysis. Ensuring data accuracy, completeness, and consistency is a critical part of this phase. The acquired data serves as the foundation for all further processing, analysis, and visualization in the project.</a:t>
            </a:r>
          </a:p>
          <a:p>
            <a:pPr algn="just">
              <a:lnSpc>
                <a:spcPts val="3249"/>
              </a:lnSpc>
            </a:pPr>
          </a:p>
          <a:p>
            <a:pPr algn="just">
              <a:lnSpc>
                <a:spcPts val="3249"/>
              </a:lnSpc>
            </a:pPr>
          </a:p>
          <a:p>
            <a:pPr algn="just">
              <a:lnSpc>
                <a:spcPts val="3249"/>
              </a:lnSpc>
            </a:pPr>
          </a:p>
          <a:p>
            <a:pPr algn="just">
              <a:lnSpc>
                <a:spcPts val="3249"/>
              </a:lnSpc>
            </a:pPr>
          </a:p>
        </p:txBody>
      </p:sp>
      <p:sp>
        <p:nvSpPr>
          <p:cNvPr name="Freeform 9" id="9"/>
          <p:cNvSpPr/>
          <p:nvPr/>
        </p:nvSpPr>
        <p:spPr>
          <a:xfrm flipH="false" flipV="false" rot="0">
            <a:off x="1523048" y="1670069"/>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008431" y="4907747"/>
            <a:ext cx="1250869" cy="1250869"/>
          </a:xfrm>
          <a:custGeom>
            <a:avLst/>
            <a:gdLst/>
            <a:ahLst/>
            <a:cxnLst/>
            <a:rect r="r" b="b" t="t" l="l"/>
            <a:pathLst>
              <a:path h="1250869" w="1250869">
                <a:moveTo>
                  <a:pt x="0" y="0"/>
                </a:moveTo>
                <a:lnTo>
                  <a:pt x="1250869" y="0"/>
                </a:lnTo>
                <a:lnTo>
                  <a:pt x="1250869" y="1250869"/>
                </a:lnTo>
                <a:lnTo>
                  <a:pt x="0" y="1250869"/>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7749" y="8053422"/>
            <a:ext cx="3461594" cy="3461594"/>
          </a:xfrm>
          <a:custGeom>
            <a:avLst/>
            <a:gdLst/>
            <a:ahLst/>
            <a:cxnLst/>
            <a:rect r="r" b="b" t="t" l="l"/>
            <a:pathLst>
              <a:path h="3461594" w="3461594">
                <a:moveTo>
                  <a:pt x="0" y="0"/>
                </a:moveTo>
                <a:lnTo>
                  <a:pt x="3461594" y="0"/>
                </a:lnTo>
                <a:lnTo>
                  <a:pt x="3461594" y="3461594"/>
                </a:lnTo>
                <a:lnTo>
                  <a:pt x="0" y="3461594"/>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048" y="1670069"/>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30657" y="3003877"/>
            <a:ext cx="3646376" cy="5484387"/>
          </a:xfrm>
          <a:custGeom>
            <a:avLst/>
            <a:gdLst/>
            <a:ahLst/>
            <a:cxnLst/>
            <a:rect r="r" b="b" t="t" l="l"/>
            <a:pathLst>
              <a:path h="5484387" w="3646376">
                <a:moveTo>
                  <a:pt x="0" y="0"/>
                </a:moveTo>
                <a:lnTo>
                  <a:pt x="3646377" y="0"/>
                </a:lnTo>
                <a:lnTo>
                  <a:pt x="3646377" y="5484387"/>
                </a:lnTo>
                <a:lnTo>
                  <a:pt x="0" y="5484387"/>
                </a:lnTo>
                <a:lnTo>
                  <a:pt x="0" y="0"/>
                </a:lnTo>
                <a:close/>
              </a:path>
            </a:pathLst>
          </a:custGeom>
          <a:blipFill>
            <a:blip r:embed="rId6"/>
            <a:stretch>
              <a:fillRect l="0" t="0" r="0" b="0"/>
            </a:stretch>
          </a:blipFill>
        </p:spPr>
      </p:sp>
      <p:sp>
        <p:nvSpPr>
          <p:cNvPr name="Freeform 6" id="6"/>
          <p:cNvSpPr/>
          <p:nvPr/>
        </p:nvSpPr>
        <p:spPr>
          <a:xfrm flipH="false" flipV="false" rot="0">
            <a:off x="5470975" y="3003877"/>
            <a:ext cx="10807644" cy="5484387"/>
          </a:xfrm>
          <a:custGeom>
            <a:avLst/>
            <a:gdLst/>
            <a:ahLst/>
            <a:cxnLst/>
            <a:rect r="r" b="b" t="t" l="l"/>
            <a:pathLst>
              <a:path h="5484387" w="10807644">
                <a:moveTo>
                  <a:pt x="0" y="0"/>
                </a:moveTo>
                <a:lnTo>
                  <a:pt x="10807644" y="0"/>
                </a:lnTo>
                <a:lnTo>
                  <a:pt x="10807644" y="5484387"/>
                </a:lnTo>
                <a:lnTo>
                  <a:pt x="0" y="5484387"/>
                </a:lnTo>
                <a:lnTo>
                  <a:pt x="0" y="0"/>
                </a:lnTo>
                <a:close/>
              </a:path>
            </a:pathLst>
          </a:custGeom>
          <a:blipFill>
            <a:blip r:embed="rId7"/>
            <a:stretch>
              <a:fillRect l="-404" t="0" r="-96" b="-143690"/>
            </a:stretch>
          </a:blipFill>
        </p:spPr>
      </p:sp>
      <p:sp>
        <p:nvSpPr>
          <p:cNvPr name="TextBox 7" id="7"/>
          <p:cNvSpPr txBox="true"/>
          <p:nvPr/>
        </p:nvSpPr>
        <p:spPr>
          <a:xfrm rot="0">
            <a:off x="3253845" y="1153361"/>
            <a:ext cx="15241903" cy="1332725"/>
          </a:xfrm>
          <a:prstGeom prst="rect">
            <a:avLst/>
          </a:prstGeom>
        </p:spPr>
        <p:txBody>
          <a:bodyPr anchor="t" rtlCol="false" tIns="0" lIns="0" bIns="0" rIns="0">
            <a:spAutoFit/>
          </a:bodyPr>
          <a:lstStyle/>
          <a:p>
            <a:pPr algn="l">
              <a:lnSpc>
                <a:spcPts val="8219"/>
              </a:lnSpc>
            </a:pPr>
            <a:r>
              <a:rPr lang="en-US" sz="8219">
                <a:solidFill>
                  <a:srgbClr val="FFFFFF"/>
                </a:solidFill>
                <a:latin typeface="Agrandir Grand"/>
                <a:ea typeface="Agrandir Grand"/>
                <a:cs typeface="Agrandir Grand"/>
                <a:sym typeface="Agrandir Grand"/>
              </a:rPr>
              <a:t>RAW DATASETS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008431" y="4907747"/>
            <a:ext cx="1250869" cy="1250869"/>
          </a:xfrm>
          <a:custGeom>
            <a:avLst/>
            <a:gdLst/>
            <a:ahLst/>
            <a:cxnLst/>
            <a:rect r="r" b="b" t="t" l="l"/>
            <a:pathLst>
              <a:path h="1250869" w="1250869">
                <a:moveTo>
                  <a:pt x="0" y="0"/>
                </a:moveTo>
                <a:lnTo>
                  <a:pt x="1250869" y="0"/>
                </a:lnTo>
                <a:lnTo>
                  <a:pt x="1250869" y="1250869"/>
                </a:lnTo>
                <a:lnTo>
                  <a:pt x="0" y="1250869"/>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7749" y="8053422"/>
            <a:ext cx="3461594" cy="3461594"/>
          </a:xfrm>
          <a:custGeom>
            <a:avLst/>
            <a:gdLst/>
            <a:ahLst/>
            <a:cxnLst/>
            <a:rect r="r" b="b" t="t" l="l"/>
            <a:pathLst>
              <a:path h="3461594" w="3461594">
                <a:moveTo>
                  <a:pt x="0" y="0"/>
                </a:moveTo>
                <a:lnTo>
                  <a:pt x="3461594" y="0"/>
                </a:lnTo>
                <a:lnTo>
                  <a:pt x="3461594" y="3461594"/>
                </a:lnTo>
                <a:lnTo>
                  <a:pt x="0" y="3461594"/>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23048" y="2486086"/>
            <a:ext cx="15241903" cy="6476484"/>
            <a:chOff x="0" y="0"/>
            <a:chExt cx="4063175" cy="1726496"/>
          </a:xfrm>
        </p:grpSpPr>
        <p:sp>
          <p:nvSpPr>
            <p:cNvPr name="Freeform 5" id="5"/>
            <p:cNvSpPr/>
            <p:nvPr/>
          </p:nvSpPr>
          <p:spPr>
            <a:xfrm flipH="false" flipV="false" rot="0">
              <a:off x="0" y="0"/>
              <a:ext cx="4063176" cy="1726497"/>
            </a:xfrm>
            <a:custGeom>
              <a:avLst/>
              <a:gdLst/>
              <a:ahLst/>
              <a:cxnLst/>
              <a:rect r="r" b="b" t="t" l="l"/>
              <a:pathLst>
                <a:path h="1726497" w="4063176">
                  <a:moveTo>
                    <a:pt x="41651" y="0"/>
                  </a:moveTo>
                  <a:lnTo>
                    <a:pt x="4021525" y="0"/>
                  </a:lnTo>
                  <a:cubicBezTo>
                    <a:pt x="4044528" y="0"/>
                    <a:pt x="4063176" y="18648"/>
                    <a:pt x="4063176" y="41651"/>
                  </a:cubicBezTo>
                  <a:lnTo>
                    <a:pt x="4063176" y="1684846"/>
                  </a:lnTo>
                  <a:cubicBezTo>
                    <a:pt x="4063176" y="1695892"/>
                    <a:pt x="4058788" y="1706486"/>
                    <a:pt x="4050976" y="1714297"/>
                  </a:cubicBezTo>
                  <a:cubicBezTo>
                    <a:pt x="4043165" y="1722108"/>
                    <a:pt x="4032571" y="1726497"/>
                    <a:pt x="4021525" y="1726497"/>
                  </a:cubicBezTo>
                  <a:lnTo>
                    <a:pt x="41651" y="1726497"/>
                  </a:lnTo>
                  <a:cubicBezTo>
                    <a:pt x="30604" y="1726497"/>
                    <a:pt x="20010" y="1722108"/>
                    <a:pt x="12199" y="1714297"/>
                  </a:cubicBezTo>
                  <a:cubicBezTo>
                    <a:pt x="4388" y="1706486"/>
                    <a:pt x="0" y="1695892"/>
                    <a:pt x="0" y="1684846"/>
                  </a:cubicBezTo>
                  <a:lnTo>
                    <a:pt x="0" y="41651"/>
                  </a:lnTo>
                  <a:cubicBezTo>
                    <a:pt x="0" y="30604"/>
                    <a:pt x="4388" y="20010"/>
                    <a:pt x="12199" y="12199"/>
                  </a:cubicBezTo>
                  <a:cubicBezTo>
                    <a:pt x="20010" y="4388"/>
                    <a:pt x="30604" y="0"/>
                    <a:pt x="41651" y="0"/>
                  </a:cubicBezTo>
                  <a:close/>
                </a:path>
              </a:pathLst>
            </a:custGeom>
            <a:solidFill>
              <a:srgbClr val="FFFFFF">
                <a:alpha val="4706"/>
              </a:srgbClr>
            </a:solidFill>
          </p:spPr>
        </p:sp>
        <p:sp>
          <p:nvSpPr>
            <p:cNvPr name="TextBox 6" id="6"/>
            <p:cNvSpPr txBox="true"/>
            <p:nvPr/>
          </p:nvSpPr>
          <p:spPr>
            <a:xfrm>
              <a:off x="0" y="-57150"/>
              <a:ext cx="4063175" cy="1783646"/>
            </a:xfrm>
            <a:prstGeom prst="rect">
              <a:avLst/>
            </a:prstGeom>
          </p:spPr>
          <p:txBody>
            <a:bodyPr anchor="ctr" rtlCol="false" tIns="52257" lIns="52257" bIns="52257" rIns="52257"/>
            <a:lstStyle/>
            <a:p>
              <a:pPr algn="ctr">
                <a:lnSpc>
                  <a:spcPts val="2660"/>
                </a:lnSpc>
                <a:spcBef>
                  <a:spcPct val="0"/>
                </a:spcBef>
              </a:pPr>
            </a:p>
          </p:txBody>
        </p:sp>
      </p:grpSp>
      <p:sp>
        <p:nvSpPr>
          <p:cNvPr name="TextBox 7" id="7"/>
          <p:cNvSpPr txBox="true"/>
          <p:nvPr/>
        </p:nvSpPr>
        <p:spPr>
          <a:xfrm rot="0">
            <a:off x="3253845" y="292441"/>
            <a:ext cx="12571733" cy="2052110"/>
          </a:xfrm>
          <a:prstGeom prst="rect">
            <a:avLst/>
          </a:prstGeom>
        </p:spPr>
        <p:txBody>
          <a:bodyPr anchor="t" rtlCol="false" tIns="0" lIns="0" bIns="0" rIns="0">
            <a:spAutoFit/>
          </a:bodyPr>
          <a:lstStyle/>
          <a:p>
            <a:pPr algn="l">
              <a:lnSpc>
                <a:spcPts val="7106"/>
              </a:lnSpc>
            </a:pPr>
            <a:r>
              <a:rPr lang="en-US" sz="7106">
                <a:solidFill>
                  <a:srgbClr val="FFFFFF"/>
                </a:solidFill>
                <a:latin typeface="Agrandir Grand"/>
                <a:ea typeface="Agrandir Grand"/>
                <a:cs typeface="Agrandir Grand"/>
                <a:sym typeface="Agrandir Grand"/>
              </a:rPr>
              <a:t>QUANTITATIVE ANALYSIS</a:t>
            </a:r>
          </a:p>
        </p:txBody>
      </p:sp>
      <p:sp>
        <p:nvSpPr>
          <p:cNvPr name="TextBox 8" id="8"/>
          <p:cNvSpPr txBox="true"/>
          <p:nvPr/>
        </p:nvSpPr>
        <p:spPr>
          <a:xfrm rot="0">
            <a:off x="2065661" y="2961537"/>
            <a:ext cx="14156679" cy="6085319"/>
          </a:xfrm>
          <a:prstGeom prst="rect">
            <a:avLst/>
          </a:prstGeom>
        </p:spPr>
        <p:txBody>
          <a:bodyPr anchor="t" rtlCol="false" tIns="0" lIns="0" bIns="0" rIns="0">
            <a:spAutoFit/>
          </a:bodyPr>
          <a:lstStyle/>
          <a:p>
            <a:pPr algn="just">
              <a:lnSpc>
                <a:spcPts val="2204"/>
              </a:lnSpc>
            </a:pPr>
            <a:r>
              <a:rPr lang="en-US" sz="2204">
                <a:solidFill>
                  <a:srgbClr val="A2A2A2"/>
                </a:solidFill>
                <a:latin typeface="Poppins"/>
                <a:ea typeface="Poppins"/>
                <a:cs typeface="Poppins"/>
                <a:sym typeface="Poppins"/>
              </a:rPr>
              <a:t>The quantitative analysis phase of the Alpha Pulse project focuses on applying statistical and mathematical techniques to evaluate portfolio performance. Key calculations include returns, alpha, and risk measures, which help in assessing how well an investment performs compared to the market.</a:t>
            </a:r>
          </a:p>
          <a:p>
            <a:pPr algn="just">
              <a:lnSpc>
                <a:spcPts val="2204"/>
              </a:lnSpc>
            </a:pPr>
          </a:p>
          <a:p>
            <a:pPr algn="l" marL="475945" indent="-237972" lvl="1">
              <a:lnSpc>
                <a:spcPts val="4122"/>
              </a:lnSpc>
              <a:buAutoNum type="arabicPeriod" startAt="1"/>
            </a:pPr>
            <a:r>
              <a:rPr lang="en-US" sz="2204">
                <a:solidFill>
                  <a:srgbClr val="A2A2A2"/>
                </a:solidFill>
                <a:latin typeface="Poppins"/>
                <a:ea typeface="Poppins"/>
                <a:cs typeface="Poppins"/>
                <a:sym typeface="Poppins"/>
              </a:rPr>
              <a:t>Returns Calculation – Daily and overall returns to measure performance over time.</a:t>
            </a:r>
          </a:p>
          <a:p>
            <a:pPr algn="l" marL="475945" indent="-237972" lvl="1">
              <a:lnSpc>
                <a:spcPts val="4122"/>
              </a:lnSpc>
              <a:buAutoNum type="arabicPeriod" startAt="1"/>
            </a:pPr>
            <a:r>
              <a:rPr lang="en-US" sz="2204">
                <a:solidFill>
                  <a:srgbClr val="A2A2A2"/>
                </a:solidFill>
                <a:latin typeface="Poppins"/>
                <a:ea typeface="Poppins"/>
                <a:cs typeface="Poppins"/>
                <a:sym typeface="Poppins"/>
              </a:rPr>
              <a:t>Alpha Calculation – Excess return of the portfolio compared to the market benchmark.</a:t>
            </a:r>
          </a:p>
          <a:p>
            <a:pPr algn="l" marL="475945" indent="-237972" lvl="1">
              <a:lnSpc>
                <a:spcPts val="4122"/>
              </a:lnSpc>
              <a:buAutoNum type="arabicPeriod" startAt="1"/>
            </a:pPr>
            <a:r>
              <a:rPr lang="en-US" sz="2204">
                <a:solidFill>
                  <a:srgbClr val="A2A2A2"/>
                </a:solidFill>
                <a:latin typeface="Poppins"/>
                <a:ea typeface="Poppins"/>
                <a:cs typeface="Poppins"/>
                <a:sym typeface="Poppins"/>
              </a:rPr>
              <a:t>Beta Calculation – Sensitivity of the portfolio with respect to market movements.</a:t>
            </a:r>
          </a:p>
          <a:p>
            <a:pPr algn="l" marL="475945" indent="-237972" lvl="1">
              <a:lnSpc>
                <a:spcPts val="4122"/>
              </a:lnSpc>
              <a:buAutoNum type="arabicPeriod" startAt="1"/>
            </a:pPr>
            <a:r>
              <a:rPr lang="en-US" sz="2204">
                <a:solidFill>
                  <a:srgbClr val="A2A2A2"/>
                </a:solidFill>
                <a:latin typeface="Poppins"/>
                <a:ea typeface="Poppins"/>
                <a:cs typeface="Poppins"/>
                <a:sym typeface="Poppins"/>
              </a:rPr>
              <a:t>Standard Deviation – Measures volatility or risk in the portfolio.</a:t>
            </a:r>
          </a:p>
          <a:p>
            <a:pPr algn="l" marL="475945" indent="-237972" lvl="1">
              <a:lnSpc>
                <a:spcPts val="4122"/>
              </a:lnSpc>
              <a:buAutoNum type="arabicPeriod" startAt="1"/>
            </a:pPr>
            <a:r>
              <a:rPr lang="en-US" sz="2204">
                <a:solidFill>
                  <a:srgbClr val="A2A2A2"/>
                </a:solidFill>
                <a:latin typeface="Poppins"/>
                <a:ea typeface="Poppins"/>
                <a:cs typeface="Poppins"/>
                <a:sym typeface="Poppins"/>
              </a:rPr>
              <a:t>Variance – Shows the spread of returns from the mean.</a:t>
            </a:r>
          </a:p>
          <a:p>
            <a:pPr algn="l" marL="475945" indent="-237972" lvl="1">
              <a:lnSpc>
                <a:spcPts val="4122"/>
              </a:lnSpc>
              <a:buAutoNum type="arabicPeriod" startAt="1"/>
            </a:pPr>
            <a:r>
              <a:rPr lang="en-US" sz="2204">
                <a:solidFill>
                  <a:srgbClr val="A2A2A2"/>
                </a:solidFill>
                <a:latin typeface="Poppins"/>
                <a:ea typeface="Poppins"/>
                <a:cs typeface="Poppins"/>
                <a:sym typeface="Poppins"/>
              </a:rPr>
              <a:t>Correlation – Identifies relationships between different stocks/assets.</a:t>
            </a:r>
          </a:p>
          <a:p>
            <a:pPr algn="l" marL="475945" indent="-237972" lvl="1">
              <a:lnSpc>
                <a:spcPts val="4122"/>
              </a:lnSpc>
              <a:buAutoNum type="arabicPeriod" startAt="1"/>
            </a:pPr>
            <a:r>
              <a:rPr lang="en-US" sz="2204">
                <a:solidFill>
                  <a:srgbClr val="A2A2A2"/>
                </a:solidFill>
                <a:latin typeface="Poppins"/>
                <a:ea typeface="Poppins"/>
                <a:cs typeface="Poppins"/>
                <a:sym typeface="Poppins"/>
              </a:rPr>
              <a:t>Moving Averages – Helps in identifying trends in stock prices.</a:t>
            </a:r>
          </a:p>
          <a:p>
            <a:pPr algn="l" marL="475945" indent="-237972" lvl="1">
              <a:lnSpc>
                <a:spcPts val="4122"/>
              </a:lnSpc>
              <a:buAutoNum type="arabicPeriod" startAt="1"/>
            </a:pPr>
            <a:r>
              <a:rPr lang="en-US" sz="2204">
                <a:solidFill>
                  <a:srgbClr val="A2A2A2"/>
                </a:solidFill>
                <a:latin typeface="Poppins"/>
                <a:ea typeface="Poppins"/>
                <a:cs typeface="Poppins"/>
                <a:sym typeface="Poppins"/>
              </a:rPr>
              <a:t>Risk-Return Analysis – Comparison of returns with associated risk.</a:t>
            </a:r>
          </a:p>
          <a:p>
            <a:pPr algn="l">
              <a:lnSpc>
                <a:spcPts val="2204"/>
              </a:lnSpc>
            </a:pPr>
          </a:p>
          <a:p>
            <a:pPr algn="l">
              <a:lnSpc>
                <a:spcPts val="2204"/>
              </a:lnSpc>
            </a:pPr>
          </a:p>
        </p:txBody>
      </p:sp>
      <p:sp>
        <p:nvSpPr>
          <p:cNvPr name="Freeform 9" id="9"/>
          <p:cNvSpPr/>
          <p:nvPr/>
        </p:nvSpPr>
        <p:spPr>
          <a:xfrm flipH="false" flipV="false" rot="0">
            <a:off x="1523048" y="1670069"/>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008431" y="4907747"/>
            <a:ext cx="1250869" cy="1250869"/>
          </a:xfrm>
          <a:custGeom>
            <a:avLst/>
            <a:gdLst/>
            <a:ahLst/>
            <a:cxnLst/>
            <a:rect r="r" b="b" t="t" l="l"/>
            <a:pathLst>
              <a:path h="1250869" w="1250869">
                <a:moveTo>
                  <a:pt x="0" y="0"/>
                </a:moveTo>
                <a:lnTo>
                  <a:pt x="1250869" y="0"/>
                </a:lnTo>
                <a:lnTo>
                  <a:pt x="1250869" y="1250869"/>
                </a:lnTo>
                <a:lnTo>
                  <a:pt x="0" y="1250869"/>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7749" y="8053422"/>
            <a:ext cx="3461594" cy="3461594"/>
          </a:xfrm>
          <a:custGeom>
            <a:avLst/>
            <a:gdLst/>
            <a:ahLst/>
            <a:cxnLst/>
            <a:rect r="r" b="b" t="t" l="l"/>
            <a:pathLst>
              <a:path h="3461594" w="3461594">
                <a:moveTo>
                  <a:pt x="0" y="0"/>
                </a:moveTo>
                <a:lnTo>
                  <a:pt x="3461594" y="0"/>
                </a:lnTo>
                <a:lnTo>
                  <a:pt x="3461594" y="3461594"/>
                </a:lnTo>
                <a:lnTo>
                  <a:pt x="0" y="3461594"/>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0193" y="971563"/>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281664" y="2479370"/>
            <a:ext cx="5776377" cy="4856754"/>
          </a:xfrm>
          <a:custGeom>
            <a:avLst/>
            <a:gdLst/>
            <a:ahLst/>
            <a:cxnLst/>
            <a:rect r="r" b="b" t="t" l="l"/>
            <a:pathLst>
              <a:path h="4856754" w="5776377">
                <a:moveTo>
                  <a:pt x="0" y="0"/>
                </a:moveTo>
                <a:lnTo>
                  <a:pt x="5776377" y="0"/>
                </a:lnTo>
                <a:lnTo>
                  <a:pt x="5776377" y="4856754"/>
                </a:lnTo>
                <a:lnTo>
                  <a:pt x="0" y="4856754"/>
                </a:lnTo>
                <a:lnTo>
                  <a:pt x="0" y="0"/>
                </a:lnTo>
                <a:close/>
              </a:path>
            </a:pathLst>
          </a:custGeom>
          <a:blipFill>
            <a:blip r:embed="rId6"/>
            <a:stretch>
              <a:fillRect l="0" t="0" r="0" b="0"/>
            </a:stretch>
          </a:blipFill>
        </p:spPr>
      </p:sp>
      <p:sp>
        <p:nvSpPr>
          <p:cNvPr name="TextBox 6" id="6"/>
          <p:cNvSpPr txBox="true"/>
          <p:nvPr/>
        </p:nvSpPr>
        <p:spPr>
          <a:xfrm rot="0">
            <a:off x="3253845" y="292441"/>
            <a:ext cx="12571733" cy="2052110"/>
          </a:xfrm>
          <a:prstGeom prst="rect">
            <a:avLst/>
          </a:prstGeom>
        </p:spPr>
        <p:txBody>
          <a:bodyPr anchor="t" rtlCol="false" tIns="0" lIns="0" bIns="0" rIns="0">
            <a:spAutoFit/>
          </a:bodyPr>
          <a:lstStyle/>
          <a:p>
            <a:pPr algn="l">
              <a:lnSpc>
                <a:spcPts val="7106"/>
              </a:lnSpc>
            </a:pPr>
            <a:r>
              <a:rPr lang="en-US" sz="7106">
                <a:solidFill>
                  <a:srgbClr val="FFFFFF"/>
                </a:solidFill>
                <a:latin typeface="Agrandir Grand"/>
                <a:ea typeface="Agrandir Grand"/>
                <a:cs typeface="Agrandir Grand"/>
                <a:sym typeface="Agrandir Grand"/>
              </a:rPr>
              <a:t>TRANSFORMED    DATASETS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008431" y="4907747"/>
            <a:ext cx="1250869" cy="1250869"/>
          </a:xfrm>
          <a:custGeom>
            <a:avLst/>
            <a:gdLst/>
            <a:ahLst/>
            <a:cxnLst/>
            <a:rect r="r" b="b" t="t" l="l"/>
            <a:pathLst>
              <a:path h="1250869" w="1250869">
                <a:moveTo>
                  <a:pt x="0" y="0"/>
                </a:moveTo>
                <a:lnTo>
                  <a:pt x="1250869" y="0"/>
                </a:lnTo>
                <a:lnTo>
                  <a:pt x="1250869" y="1250869"/>
                </a:lnTo>
                <a:lnTo>
                  <a:pt x="0" y="1250869"/>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7749" y="8053422"/>
            <a:ext cx="3461594" cy="3461594"/>
          </a:xfrm>
          <a:custGeom>
            <a:avLst/>
            <a:gdLst/>
            <a:ahLst/>
            <a:cxnLst/>
            <a:rect r="r" b="b" t="t" l="l"/>
            <a:pathLst>
              <a:path h="3461594" w="3461594">
                <a:moveTo>
                  <a:pt x="0" y="0"/>
                </a:moveTo>
                <a:lnTo>
                  <a:pt x="3461594" y="0"/>
                </a:lnTo>
                <a:lnTo>
                  <a:pt x="3461594" y="3461594"/>
                </a:lnTo>
                <a:lnTo>
                  <a:pt x="0" y="3461594"/>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23048" y="2486086"/>
            <a:ext cx="15241903" cy="6476484"/>
            <a:chOff x="0" y="0"/>
            <a:chExt cx="4063175" cy="1726496"/>
          </a:xfrm>
        </p:grpSpPr>
        <p:sp>
          <p:nvSpPr>
            <p:cNvPr name="Freeform 5" id="5"/>
            <p:cNvSpPr/>
            <p:nvPr/>
          </p:nvSpPr>
          <p:spPr>
            <a:xfrm flipH="false" flipV="false" rot="0">
              <a:off x="0" y="0"/>
              <a:ext cx="4063176" cy="1726497"/>
            </a:xfrm>
            <a:custGeom>
              <a:avLst/>
              <a:gdLst/>
              <a:ahLst/>
              <a:cxnLst/>
              <a:rect r="r" b="b" t="t" l="l"/>
              <a:pathLst>
                <a:path h="1726497" w="4063176">
                  <a:moveTo>
                    <a:pt x="41651" y="0"/>
                  </a:moveTo>
                  <a:lnTo>
                    <a:pt x="4021525" y="0"/>
                  </a:lnTo>
                  <a:cubicBezTo>
                    <a:pt x="4044528" y="0"/>
                    <a:pt x="4063176" y="18648"/>
                    <a:pt x="4063176" y="41651"/>
                  </a:cubicBezTo>
                  <a:lnTo>
                    <a:pt x="4063176" y="1684846"/>
                  </a:lnTo>
                  <a:cubicBezTo>
                    <a:pt x="4063176" y="1695892"/>
                    <a:pt x="4058788" y="1706486"/>
                    <a:pt x="4050976" y="1714297"/>
                  </a:cubicBezTo>
                  <a:cubicBezTo>
                    <a:pt x="4043165" y="1722108"/>
                    <a:pt x="4032571" y="1726497"/>
                    <a:pt x="4021525" y="1726497"/>
                  </a:cubicBezTo>
                  <a:lnTo>
                    <a:pt x="41651" y="1726497"/>
                  </a:lnTo>
                  <a:cubicBezTo>
                    <a:pt x="30604" y="1726497"/>
                    <a:pt x="20010" y="1722108"/>
                    <a:pt x="12199" y="1714297"/>
                  </a:cubicBezTo>
                  <a:cubicBezTo>
                    <a:pt x="4388" y="1706486"/>
                    <a:pt x="0" y="1695892"/>
                    <a:pt x="0" y="1684846"/>
                  </a:cubicBezTo>
                  <a:lnTo>
                    <a:pt x="0" y="41651"/>
                  </a:lnTo>
                  <a:cubicBezTo>
                    <a:pt x="0" y="30604"/>
                    <a:pt x="4388" y="20010"/>
                    <a:pt x="12199" y="12199"/>
                  </a:cubicBezTo>
                  <a:cubicBezTo>
                    <a:pt x="20010" y="4388"/>
                    <a:pt x="30604" y="0"/>
                    <a:pt x="41651" y="0"/>
                  </a:cubicBezTo>
                  <a:close/>
                </a:path>
              </a:pathLst>
            </a:custGeom>
            <a:solidFill>
              <a:srgbClr val="FFFFFF">
                <a:alpha val="4706"/>
              </a:srgbClr>
            </a:solidFill>
          </p:spPr>
        </p:sp>
        <p:sp>
          <p:nvSpPr>
            <p:cNvPr name="TextBox 6" id="6"/>
            <p:cNvSpPr txBox="true"/>
            <p:nvPr/>
          </p:nvSpPr>
          <p:spPr>
            <a:xfrm>
              <a:off x="0" y="-57150"/>
              <a:ext cx="4063175" cy="1783646"/>
            </a:xfrm>
            <a:prstGeom prst="rect">
              <a:avLst/>
            </a:prstGeom>
          </p:spPr>
          <p:txBody>
            <a:bodyPr anchor="ctr" rtlCol="false" tIns="52257" lIns="52257" bIns="52257" rIns="52257"/>
            <a:lstStyle/>
            <a:p>
              <a:pPr algn="ctr">
                <a:lnSpc>
                  <a:spcPts val="2660"/>
                </a:lnSpc>
                <a:spcBef>
                  <a:spcPct val="0"/>
                </a:spcBef>
              </a:pPr>
            </a:p>
          </p:txBody>
        </p:sp>
      </p:grpSp>
      <p:sp>
        <p:nvSpPr>
          <p:cNvPr name="TextBox 7" id="7"/>
          <p:cNvSpPr txBox="true"/>
          <p:nvPr/>
        </p:nvSpPr>
        <p:spPr>
          <a:xfrm rot="0">
            <a:off x="3253845" y="292441"/>
            <a:ext cx="12571733" cy="1154413"/>
          </a:xfrm>
          <a:prstGeom prst="rect">
            <a:avLst/>
          </a:prstGeom>
        </p:spPr>
        <p:txBody>
          <a:bodyPr anchor="t" rtlCol="false" tIns="0" lIns="0" bIns="0" rIns="0">
            <a:spAutoFit/>
          </a:bodyPr>
          <a:lstStyle/>
          <a:p>
            <a:pPr algn="l">
              <a:lnSpc>
                <a:spcPts val="7106"/>
              </a:lnSpc>
            </a:pPr>
            <a:r>
              <a:rPr lang="en-US" sz="7106">
                <a:solidFill>
                  <a:srgbClr val="FFFFFF"/>
                </a:solidFill>
                <a:latin typeface="Agrandir Grand"/>
                <a:ea typeface="Agrandir Grand"/>
                <a:cs typeface="Agrandir Grand"/>
                <a:sym typeface="Agrandir Grand"/>
              </a:rPr>
              <a:t>RISK MODELING</a:t>
            </a:r>
          </a:p>
        </p:txBody>
      </p:sp>
      <p:sp>
        <p:nvSpPr>
          <p:cNvPr name="TextBox 8" id="8"/>
          <p:cNvSpPr txBox="true"/>
          <p:nvPr/>
        </p:nvSpPr>
        <p:spPr>
          <a:xfrm rot="0">
            <a:off x="2065661" y="2961537"/>
            <a:ext cx="14156679" cy="5657851"/>
          </a:xfrm>
          <a:prstGeom prst="rect">
            <a:avLst/>
          </a:prstGeom>
        </p:spPr>
        <p:txBody>
          <a:bodyPr anchor="t" rtlCol="false" tIns="0" lIns="0" bIns="0" rIns="0">
            <a:spAutoFit/>
          </a:bodyPr>
          <a:lstStyle/>
          <a:p>
            <a:pPr algn="just">
              <a:lnSpc>
                <a:spcPts val="2204"/>
              </a:lnSpc>
            </a:pPr>
            <a:r>
              <a:rPr lang="en-US" sz="2204">
                <a:solidFill>
                  <a:srgbClr val="A2A2A2"/>
                </a:solidFill>
                <a:latin typeface="Poppins"/>
                <a:ea typeface="Poppins"/>
                <a:cs typeface="Poppins"/>
                <a:sym typeface="Poppins"/>
              </a:rPr>
              <a:t>The risk modeling phase in the Alpha Pulse project focuses on identifying, measuring, and managing the uncertainty associated with investments. It involves analyzing the volatility of returns using measures like standard deviation and variance to understand how much the portfolio value can fluctuate</a:t>
            </a:r>
          </a:p>
          <a:p>
            <a:pPr algn="just">
              <a:lnSpc>
                <a:spcPts val="2204"/>
              </a:lnSpc>
            </a:pPr>
          </a:p>
          <a:p>
            <a:pPr algn="just" marL="475945" indent="-237972" lvl="1">
              <a:lnSpc>
                <a:spcPts val="3086"/>
              </a:lnSpc>
              <a:buAutoNum type="arabicPeriod" startAt="1"/>
            </a:pPr>
            <a:r>
              <a:rPr lang="en-US" sz="2204">
                <a:solidFill>
                  <a:srgbClr val="A2A2A2"/>
                </a:solidFill>
                <a:latin typeface="Poppins"/>
                <a:ea typeface="Poppins"/>
                <a:cs typeface="Poppins"/>
                <a:sym typeface="Poppins"/>
              </a:rPr>
              <a:t>Standard Deviation – Measures how much the returns fluctuate (volatility).</a:t>
            </a:r>
          </a:p>
          <a:p>
            <a:pPr algn="just" marL="475945" indent="-237972" lvl="1">
              <a:lnSpc>
                <a:spcPts val="3086"/>
              </a:lnSpc>
              <a:buAutoNum type="arabicPeriod" startAt="1"/>
            </a:pPr>
            <a:r>
              <a:rPr lang="en-US" sz="2204">
                <a:solidFill>
                  <a:srgbClr val="A2A2A2"/>
                </a:solidFill>
                <a:latin typeface="Poppins"/>
                <a:ea typeface="Poppins"/>
                <a:cs typeface="Poppins"/>
                <a:sym typeface="Poppins"/>
              </a:rPr>
              <a:t>Variance – Calculates the spread of returns from the average return.</a:t>
            </a:r>
          </a:p>
          <a:p>
            <a:pPr algn="just" marL="475945" indent="-237972" lvl="1">
              <a:lnSpc>
                <a:spcPts val="3086"/>
              </a:lnSpc>
              <a:buAutoNum type="arabicPeriod" startAt="1"/>
            </a:pPr>
            <a:r>
              <a:rPr lang="en-US" sz="2204">
                <a:solidFill>
                  <a:srgbClr val="A2A2A2"/>
                </a:solidFill>
                <a:latin typeface="Poppins"/>
                <a:ea typeface="Poppins"/>
                <a:cs typeface="Poppins"/>
                <a:sym typeface="Poppins"/>
              </a:rPr>
              <a:t>Beta – Measures sensitivity of the portfolio compared to market movements.</a:t>
            </a:r>
          </a:p>
          <a:p>
            <a:pPr algn="just" marL="475945" indent="-237972" lvl="1">
              <a:lnSpc>
                <a:spcPts val="3086"/>
              </a:lnSpc>
              <a:buAutoNum type="arabicPeriod" startAt="1"/>
            </a:pPr>
            <a:r>
              <a:rPr lang="en-US" sz="2204">
                <a:solidFill>
                  <a:srgbClr val="A2A2A2"/>
                </a:solidFill>
                <a:latin typeface="Poppins"/>
                <a:ea typeface="Poppins"/>
                <a:cs typeface="Poppins"/>
                <a:sym typeface="Poppins"/>
              </a:rPr>
              <a:t>Correlation Coefficient – Shows the relationship between different assets.</a:t>
            </a:r>
          </a:p>
          <a:p>
            <a:pPr algn="just" marL="475945" indent="-237972" lvl="1">
              <a:lnSpc>
                <a:spcPts val="3086"/>
              </a:lnSpc>
              <a:buAutoNum type="arabicPeriod" startAt="1"/>
            </a:pPr>
            <a:r>
              <a:rPr lang="en-US" sz="2204">
                <a:solidFill>
                  <a:srgbClr val="A2A2A2"/>
                </a:solidFill>
                <a:latin typeface="Poppins"/>
                <a:ea typeface="Poppins"/>
                <a:cs typeface="Poppins"/>
                <a:sym typeface="Poppins"/>
              </a:rPr>
              <a:t>Value at Risk (VaR) – Estimates the maximum potential loss over a given time period at a certain confidence level.</a:t>
            </a:r>
          </a:p>
          <a:p>
            <a:pPr algn="just" marL="475945" indent="-237972" lvl="1">
              <a:lnSpc>
                <a:spcPts val="3086"/>
              </a:lnSpc>
              <a:buAutoNum type="arabicPeriod" startAt="1"/>
            </a:pPr>
            <a:r>
              <a:rPr lang="en-US" sz="2204">
                <a:solidFill>
                  <a:srgbClr val="A2A2A2"/>
                </a:solidFill>
                <a:latin typeface="Poppins"/>
                <a:ea typeface="Poppins"/>
                <a:cs typeface="Poppins"/>
                <a:sym typeface="Poppins"/>
              </a:rPr>
              <a:t>Expected Return – Average return expected from the portfolio based on past data.</a:t>
            </a:r>
          </a:p>
          <a:p>
            <a:pPr algn="just" marL="475945" indent="-237972" lvl="1">
              <a:lnSpc>
                <a:spcPts val="3086"/>
              </a:lnSpc>
              <a:buAutoNum type="arabicPeriod" startAt="1"/>
            </a:pPr>
            <a:r>
              <a:rPr lang="en-US" sz="2204">
                <a:solidFill>
                  <a:srgbClr val="A2A2A2"/>
                </a:solidFill>
                <a:latin typeface="Poppins"/>
                <a:ea typeface="Poppins"/>
                <a:cs typeface="Poppins"/>
                <a:sym typeface="Poppins"/>
              </a:rPr>
              <a:t>Sharpe Ratio – Measures risk-adjusted return (return per unit of risk).</a:t>
            </a:r>
          </a:p>
          <a:p>
            <a:pPr algn="just" marL="475945" indent="-237972" lvl="1">
              <a:lnSpc>
                <a:spcPts val="3086"/>
              </a:lnSpc>
              <a:buAutoNum type="arabicPeriod" startAt="1"/>
            </a:pPr>
            <a:r>
              <a:rPr lang="en-US" sz="2204">
                <a:solidFill>
                  <a:srgbClr val="A2A2A2"/>
                </a:solidFill>
                <a:latin typeface="Poppins"/>
                <a:ea typeface="Poppins"/>
                <a:cs typeface="Poppins"/>
                <a:sym typeface="Poppins"/>
              </a:rPr>
              <a:t>Downside Risk – Focuses on negative returns or potential losses only.</a:t>
            </a:r>
          </a:p>
          <a:p>
            <a:pPr algn="just">
              <a:lnSpc>
                <a:spcPts val="3086"/>
              </a:lnSpc>
            </a:pPr>
            <a:r>
              <a:rPr lang="en-US" sz="2204">
                <a:solidFill>
                  <a:srgbClr val="A2A2A2"/>
                </a:solidFill>
                <a:latin typeface="Poppins"/>
                <a:ea typeface="Poppins"/>
                <a:cs typeface="Poppins"/>
                <a:sym typeface="Poppins"/>
              </a:rPr>
              <a:t>These calculations help in understanding, quantifying, and managing investment risk effectively.</a:t>
            </a:r>
          </a:p>
          <a:p>
            <a:pPr algn="just">
              <a:lnSpc>
                <a:spcPts val="3086"/>
              </a:lnSpc>
            </a:pPr>
          </a:p>
        </p:txBody>
      </p:sp>
      <p:sp>
        <p:nvSpPr>
          <p:cNvPr name="Freeform 9" id="9"/>
          <p:cNvSpPr/>
          <p:nvPr/>
        </p:nvSpPr>
        <p:spPr>
          <a:xfrm flipH="false" flipV="false" rot="0">
            <a:off x="1523048" y="1670069"/>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008431" y="4907747"/>
            <a:ext cx="1250869" cy="1250869"/>
          </a:xfrm>
          <a:custGeom>
            <a:avLst/>
            <a:gdLst/>
            <a:ahLst/>
            <a:cxnLst/>
            <a:rect r="r" b="b" t="t" l="l"/>
            <a:pathLst>
              <a:path h="1250869" w="1250869">
                <a:moveTo>
                  <a:pt x="0" y="0"/>
                </a:moveTo>
                <a:lnTo>
                  <a:pt x="1250869" y="0"/>
                </a:lnTo>
                <a:lnTo>
                  <a:pt x="1250869" y="1250869"/>
                </a:lnTo>
                <a:lnTo>
                  <a:pt x="0" y="1250869"/>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7749" y="8053422"/>
            <a:ext cx="3461594" cy="3461594"/>
          </a:xfrm>
          <a:custGeom>
            <a:avLst/>
            <a:gdLst/>
            <a:ahLst/>
            <a:cxnLst/>
            <a:rect r="r" b="b" t="t" l="l"/>
            <a:pathLst>
              <a:path h="3461594" w="3461594">
                <a:moveTo>
                  <a:pt x="0" y="0"/>
                </a:moveTo>
                <a:lnTo>
                  <a:pt x="3461594" y="0"/>
                </a:lnTo>
                <a:lnTo>
                  <a:pt x="3461594" y="3461594"/>
                </a:lnTo>
                <a:lnTo>
                  <a:pt x="0" y="3461594"/>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048" y="643667"/>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76214" y="1446854"/>
            <a:ext cx="14565532" cy="8407676"/>
          </a:xfrm>
          <a:custGeom>
            <a:avLst/>
            <a:gdLst/>
            <a:ahLst/>
            <a:cxnLst/>
            <a:rect r="r" b="b" t="t" l="l"/>
            <a:pathLst>
              <a:path h="8407676" w="14565532">
                <a:moveTo>
                  <a:pt x="0" y="0"/>
                </a:moveTo>
                <a:lnTo>
                  <a:pt x="14565532" y="0"/>
                </a:lnTo>
                <a:lnTo>
                  <a:pt x="14565532" y="8407676"/>
                </a:lnTo>
                <a:lnTo>
                  <a:pt x="0" y="8407676"/>
                </a:lnTo>
                <a:lnTo>
                  <a:pt x="0" y="0"/>
                </a:lnTo>
                <a:close/>
              </a:path>
            </a:pathLst>
          </a:custGeom>
          <a:blipFill>
            <a:blip r:embed="rId6"/>
            <a:stretch>
              <a:fillRect l="0" t="0" r="-52" b="-3037"/>
            </a:stretch>
          </a:blipFill>
        </p:spPr>
      </p:sp>
      <p:sp>
        <p:nvSpPr>
          <p:cNvPr name="TextBox 6" id="6"/>
          <p:cNvSpPr txBox="true"/>
          <p:nvPr/>
        </p:nvSpPr>
        <p:spPr>
          <a:xfrm rot="0">
            <a:off x="3253845" y="292441"/>
            <a:ext cx="12571733" cy="1154413"/>
          </a:xfrm>
          <a:prstGeom prst="rect">
            <a:avLst/>
          </a:prstGeom>
        </p:spPr>
        <p:txBody>
          <a:bodyPr anchor="t" rtlCol="false" tIns="0" lIns="0" bIns="0" rIns="0">
            <a:spAutoFit/>
          </a:bodyPr>
          <a:lstStyle/>
          <a:p>
            <a:pPr algn="l">
              <a:lnSpc>
                <a:spcPts val="7106"/>
              </a:lnSpc>
            </a:pPr>
            <a:r>
              <a:rPr lang="en-US" sz="7106">
                <a:solidFill>
                  <a:srgbClr val="FFFFFF"/>
                </a:solidFill>
                <a:latin typeface="Agrandir Grand"/>
                <a:ea typeface="Agrandir Grand"/>
                <a:cs typeface="Agrandir Grand"/>
                <a:sym typeface="Agrandir Grand"/>
              </a:rPr>
              <a:t>DASHBOARD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008431" y="4907747"/>
            <a:ext cx="1250869" cy="1250869"/>
          </a:xfrm>
          <a:custGeom>
            <a:avLst/>
            <a:gdLst/>
            <a:ahLst/>
            <a:cxnLst/>
            <a:rect r="r" b="b" t="t" l="l"/>
            <a:pathLst>
              <a:path h="1250869" w="1250869">
                <a:moveTo>
                  <a:pt x="0" y="0"/>
                </a:moveTo>
                <a:lnTo>
                  <a:pt x="1250869" y="0"/>
                </a:lnTo>
                <a:lnTo>
                  <a:pt x="1250869" y="1250869"/>
                </a:lnTo>
                <a:lnTo>
                  <a:pt x="0" y="1250869"/>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7749" y="8053422"/>
            <a:ext cx="3461594" cy="3461594"/>
          </a:xfrm>
          <a:custGeom>
            <a:avLst/>
            <a:gdLst/>
            <a:ahLst/>
            <a:cxnLst/>
            <a:rect r="r" b="b" t="t" l="l"/>
            <a:pathLst>
              <a:path h="3461594" w="3461594">
                <a:moveTo>
                  <a:pt x="0" y="0"/>
                </a:moveTo>
                <a:lnTo>
                  <a:pt x="3461594" y="0"/>
                </a:lnTo>
                <a:lnTo>
                  <a:pt x="3461594" y="3461594"/>
                </a:lnTo>
                <a:lnTo>
                  <a:pt x="0" y="3461594"/>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048" y="643667"/>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23048" y="2085266"/>
            <a:ext cx="13424439" cy="8068850"/>
          </a:xfrm>
          <a:custGeom>
            <a:avLst/>
            <a:gdLst/>
            <a:ahLst/>
            <a:cxnLst/>
            <a:rect r="r" b="b" t="t" l="l"/>
            <a:pathLst>
              <a:path h="8068850" w="13424439">
                <a:moveTo>
                  <a:pt x="0" y="0"/>
                </a:moveTo>
                <a:lnTo>
                  <a:pt x="13424439" y="0"/>
                </a:lnTo>
                <a:lnTo>
                  <a:pt x="13424439" y="8068850"/>
                </a:lnTo>
                <a:lnTo>
                  <a:pt x="0" y="8068850"/>
                </a:lnTo>
                <a:lnTo>
                  <a:pt x="0" y="0"/>
                </a:lnTo>
                <a:close/>
              </a:path>
            </a:pathLst>
          </a:custGeom>
          <a:blipFill>
            <a:blip r:embed="rId6"/>
            <a:stretch>
              <a:fillRect l="0" t="0" r="0" b="0"/>
            </a:stretch>
          </a:blipFill>
        </p:spPr>
      </p:sp>
      <p:sp>
        <p:nvSpPr>
          <p:cNvPr name="TextBox 6" id="6"/>
          <p:cNvSpPr txBox="true"/>
          <p:nvPr/>
        </p:nvSpPr>
        <p:spPr>
          <a:xfrm rot="0">
            <a:off x="3253845" y="292441"/>
            <a:ext cx="12571733" cy="1154413"/>
          </a:xfrm>
          <a:prstGeom prst="rect">
            <a:avLst/>
          </a:prstGeom>
        </p:spPr>
        <p:txBody>
          <a:bodyPr anchor="t" rtlCol="false" tIns="0" lIns="0" bIns="0" rIns="0">
            <a:spAutoFit/>
          </a:bodyPr>
          <a:lstStyle/>
          <a:p>
            <a:pPr algn="l">
              <a:lnSpc>
                <a:spcPts val="7106"/>
              </a:lnSpc>
            </a:pPr>
            <a:r>
              <a:rPr lang="en-US" sz="7106">
                <a:solidFill>
                  <a:srgbClr val="FFFFFF"/>
                </a:solidFill>
                <a:latin typeface="Agrandir Grand"/>
                <a:ea typeface="Agrandir Grand"/>
                <a:cs typeface="Agrandir Grand"/>
                <a:sym typeface="Agrandir Grand"/>
              </a:rPr>
              <a:t>DASHBOARD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841772" y="3335121"/>
            <a:ext cx="5923179" cy="5923179"/>
          </a:xfrm>
          <a:custGeom>
            <a:avLst/>
            <a:gdLst/>
            <a:ahLst/>
            <a:cxnLst/>
            <a:rect r="r" b="b" t="t" l="l"/>
            <a:pathLst>
              <a:path h="5923179" w="5923179">
                <a:moveTo>
                  <a:pt x="0" y="0"/>
                </a:moveTo>
                <a:lnTo>
                  <a:pt x="5923180" y="0"/>
                </a:lnTo>
                <a:lnTo>
                  <a:pt x="5923180" y="5923179"/>
                </a:lnTo>
                <a:lnTo>
                  <a:pt x="0" y="59231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882942" y="3750902"/>
            <a:ext cx="6882010" cy="3614772"/>
          </a:xfrm>
          <a:prstGeom prst="rect">
            <a:avLst/>
          </a:prstGeom>
        </p:spPr>
        <p:txBody>
          <a:bodyPr anchor="t" rtlCol="false" tIns="0" lIns="0" bIns="0" rIns="0">
            <a:spAutoFit/>
          </a:bodyPr>
          <a:lstStyle/>
          <a:p>
            <a:pPr algn="r">
              <a:lnSpc>
                <a:spcPts val="12563"/>
              </a:lnSpc>
            </a:pPr>
            <a:r>
              <a:rPr lang="en-US" sz="12563">
                <a:solidFill>
                  <a:srgbClr val="FFFFFF"/>
                </a:solidFill>
                <a:latin typeface="Agrandir Grand"/>
                <a:ea typeface="Agrandir Grand"/>
                <a:cs typeface="Agrandir Grand"/>
                <a:sym typeface="Agrandir Grand"/>
              </a:rPr>
              <a:t>THANK YOU</a:t>
            </a:r>
          </a:p>
        </p:txBody>
      </p:sp>
      <p:sp>
        <p:nvSpPr>
          <p:cNvPr name="Freeform 4" id="4"/>
          <p:cNvSpPr/>
          <p:nvPr/>
        </p:nvSpPr>
        <p:spPr>
          <a:xfrm flipH="false" flipV="false" rot="0">
            <a:off x="10620898" y="7353657"/>
            <a:ext cx="1353433" cy="1353433"/>
          </a:xfrm>
          <a:custGeom>
            <a:avLst/>
            <a:gdLst/>
            <a:ahLst/>
            <a:cxnLst/>
            <a:rect r="r" b="b" t="t" l="l"/>
            <a:pathLst>
              <a:path h="1353433" w="1353433">
                <a:moveTo>
                  <a:pt x="0" y="0"/>
                </a:moveTo>
                <a:lnTo>
                  <a:pt x="1353434" y="0"/>
                </a:lnTo>
                <a:lnTo>
                  <a:pt x="1353434" y="1353433"/>
                </a:lnTo>
                <a:lnTo>
                  <a:pt x="0" y="1353433"/>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1297615" y="1334294"/>
            <a:ext cx="5467337" cy="988957"/>
            <a:chOff x="0" y="0"/>
            <a:chExt cx="1457479" cy="263635"/>
          </a:xfrm>
        </p:grpSpPr>
        <p:sp>
          <p:nvSpPr>
            <p:cNvPr name="Freeform 6" id="6"/>
            <p:cNvSpPr/>
            <p:nvPr/>
          </p:nvSpPr>
          <p:spPr>
            <a:xfrm flipH="false" flipV="false" rot="0">
              <a:off x="0" y="0"/>
              <a:ext cx="1457479" cy="263635"/>
            </a:xfrm>
            <a:custGeom>
              <a:avLst/>
              <a:gdLst/>
              <a:ahLst/>
              <a:cxnLst/>
              <a:rect r="r" b="b" t="t" l="l"/>
              <a:pathLst>
                <a:path h="263635" w="1457479">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gradFill rotWithShape="true">
              <a:gsLst>
                <a:gs pos="0">
                  <a:srgbClr val="FFFFFF">
                    <a:alpha val="5000"/>
                  </a:srgbClr>
                </a:gs>
                <a:gs pos="50000">
                  <a:srgbClr val="F1F1F1">
                    <a:alpha val="5000"/>
                  </a:srgbClr>
                </a:gs>
                <a:gs pos="100000">
                  <a:srgbClr val="F1F1F1">
                    <a:alpha val="5000"/>
                  </a:srgbClr>
                </a:gs>
              </a:gsLst>
              <a:lin ang="0"/>
            </a:gradFill>
          </p:spPr>
        </p:sp>
        <p:sp>
          <p:nvSpPr>
            <p:cNvPr name="TextBox 7" id="7"/>
            <p:cNvSpPr txBox="true"/>
            <p:nvPr/>
          </p:nvSpPr>
          <p:spPr>
            <a:xfrm>
              <a:off x="0" y="-57150"/>
              <a:ext cx="1457479" cy="320785"/>
            </a:xfrm>
            <a:prstGeom prst="rect">
              <a:avLst/>
            </a:prstGeom>
          </p:spPr>
          <p:txBody>
            <a:bodyPr anchor="ctr" rtlCol="false" tIns="52257" lIns="52257" bIns="52257" rIns="52257"/>
            <a:lstStyle/>
            <a:p>
              <a:pPr algn="ctr">
                <a:lnSpc>
                  <a:spcPts val="2660"/>
                </a:lnSpc>
                <a:spcBef>
                  <a:spcPct val="0"/>
                </a:spcBef>
              </a:pPr>
            </a:p>
          </p:txBody>
        </p:sp>
      </p:grpSp>
      <p:sp>
        <p:nvSpPr>
          <p:cNvPr name="Freeform 8" id="8"/>
          <p:cNvSpPr/>
          <p:nvPr/>
        </p:nvSpPr>
        <p:spPr>
          <a:xfrm flipH="false" flipV="false" rot="0">
            <a:off x="1523048" y="1679933"/>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1754696" y="1660883"/>
            <a:ext cx="4553174" cy="354892"/>
          </a:xfrm>
          <a:prstGeom prst="rect">
            <a:avLst/>
          </a:prstGeom>
        </p:spPr>
        <p:txBody>
          <a:bodyPr anchor="t" rtlCol="false" tIns="0" lIns="0" bIns="0" rIns="0">
            <a:spAutoFit/>
          </a:bodyPr>
          <a:lstStyle/>
          <a:p>
            <a:pPr algn="l">
              <a:lnSpc>
                <a:spcPts val="2474"/>
              </a:lnSpc>
            </a:pPr>
            <a:r>
              <a:rPr lang="en-US" sz="2474" i="true">
                <a:solidFill>
                  <a:srgbClr val="A2A2A2"/>
                </a:solidFill>
                <a:latin typeface="Poppins Italics"/>
                <a:ea typeface="Poppins Italics"/>
                <a:cs typeface="Poppins Italics"/>
                <a:sym typeface="Poppins Italics"/>
              </a:rPr>
              <a:t>Group 1</a:t>
            </a:r>
          </a:p>
        </p:txBody>
      </p:sp>
      <p:sp>
        <p:nvSpPr>
          <p:cNvPr name="AutoShape 10" id="10"/>
          <p:cNvSpPr/>
          <p:nvPr/>
        </p:nvSpPr>
        <p:spPr>
          <a:xfrm>
            <a:off x="2965365" y="1867687"/>
            <a:ext cx="7555869" cy="9525"/>
          </a:xfrm>
          <a:prstGeom prst="line">
            <a:avLst/>
          </a:prstGeom>
          <a:ln cap="flat" w="19050">
            <a:solidFill>
              <a:srgbClr val="4C4C4C"/>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DAHGWVdA-3E</dc:identifier>
  <dcterms:modified xsi:type="dcterms:W3CDTF">2011-08-01T06:04:30Z</dcterms:modified>
  <cp:revision>1</cp:revision>
  <dc:title>Purple Gradient Project Plan Presentation </dc:title>
</cp:coreProperties>
</file>